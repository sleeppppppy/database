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1" r:id="rId4"/>
    <p:sldMasterId id="2147483683" r:id="rId5"/>
    <p:sldMasterId id="2147483693" r:id="rId6"/>
    <p:sldMasterId id="2147483704" r:id="rId7"/>
  </p:sldMasterIdLst>
  <p:notesMasterIdLst>
    <p:notesMasterId r:id="rId9"/>
  </p:notesMasterIdLst>
  <p:handoutMasterIdLst>
    <p:handoutMasterId r:id="rId56"/>
  </p:handoutMasterIdLst>
  <p:sldIdLst>
    <p:sldId id="256" r:id="rId8"/>
    <p:sldId id="336" r:id="rId10"/>
    <p:sldId id="258" r:id="rId11"/>
    <p:sldId id="259" r:id="rId12"/>
    <p:sldId id="293" r:id="rId13"/>
    <p:sldId id="295" r:id="rId14"/>
    <p:sldId id="291" r:id="rId15"/>
    <p:sldId id="292" r:id="rId16"/>
    <p:sldId id="284" r:id="rId17"/>
    <p:sldId id="260" r:id="rId18"/>
    <p:sldId id="261" r:id="rId19"/>
    <p:sldId id="262" r:id="rId20"/>
    <p:sldId id="285" r:id="rId21"/>
    <p:sldId id="286" r:id="rId22"/>
    <p:sldId id="263" r:id="rId23"/>
    <p:sldId id="287" r:id="rId24"/>
    <p:sldId id="264" r:id="rId25"/>
    <p:sldId id="266" r:id="rId26"/>
    <p:sldId id="288" r:id="rId27"/>
    <p:sldId id="265" r:id="rId28"/>
    <p:sldId id="289" r:id="rId29"/>
    <p:sldId id="290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81" r:id="rId44"/>
    <p:sldId id="326" r:id="rId45"/>
    <p:sldId id="327" r:id="rId46"/>
    <p:sldId id="328" r:id="rId47"/>
    <p:sldId id="329" r:id="rId48"/>
    <p:sldId id="380" r:id="rId49"/>
    <p:sldId id="330" r:id="rId50"/>
    <p:sldId id="331" r:id="rId51"/>
    <p:sldId id="332" r:id="rId52"/>
    <p:sldId id="333" r:id="rId53"/>
    <p:sldId id="334" r:id="rId54"/>
    <p:sldId id="335" r:id="rId55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90" y="132"/>
      </p:cViewPr>
      <p:guideLst>
        <p:guide orient="horz" pos="2224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0" Type="http://schemas.openxmlformats.org/officeDocument/2006/relationships/tags" Target="tags/tag117.xml"/><Relationship Id="rId6" Type="http://schemas.openxmlformats.org/officeDocument/2006/relationships/slideMaster" Target="slideMasters/slideMaster5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3604D-3EC0-414E-8F5C-4E317FF17F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20A14-A19B-4764-96AD-00AB3D7ED7B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4E2E4E-2FFD-4B0E-BE9C-FA7BDC09154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/>
                        <a:t>缓冲池管理器</a:t>
                      </a:r>
                      <a:endParaRPr lang="zh-CN" altLang="en-US" sz="1600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可扩展哈希表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LRU-K</a:t>
                      </a: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0" y="2060697"/>
            <a:ext cx="1691680" cy="788186"/>
            <a:chOff x="0" y="1272662"/>
            <a:chExt cx="1691680" cy="788186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可扩展哈希表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等腰三角形 4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缓冲池管理器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594748"/>
            <a:ext cx="1691680" cy="1276995"/>
            <a:chOff x="0" y="1594748"/>
            <a:chExt cx="1691680" cy="1276995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2083557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-142" y="2885456"/>
            <a:ext cx="1691680" cy="788186"/>
            <a:chOff x="0" y="1272662"/>
            <a:chExt cx="1691680" cy="788186"/>
          </a:xfrm>
          <a:solidFill>
            <a:srgbClr val="0070C0"/>
          </a:solidFill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LRU-K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置换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可扩展哈希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2063631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可扩展哈希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365430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可扩展哈希表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127178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缓冲池管理器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/>
                        <a:t>缓冲池管理器</a:t>
                      </a:r>
                      <a:endParaRPr lang="zh-CN" altLang="en-US" sz="1600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可扩展哈希表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 userDrawn="1"/>
        </p:nvGrpSpPr>
        <p:grpSpPr>
          <a:xfrm>
            <a:off x="0" y="2061967"/>
            <a:ext cx="1691680" cy="788186"/>
            <a:chOff x="0" y="1181857"/>
            <a:chExt cx="1691680" cy="788186"/>
          </a:xfrm>
        </p:grpSpPr>
        <p:sp>
          <p:nvSpPr>
            <p:cNvPr id="33" name="矩形 32"/>
            <p:cNvSpPr/>
            <p:nvPr userDrawn="1"/>
          </p:nvSpPr>
          <p:spPr>
            <a:xfrm>
              <a:off x="0" y="1181857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等腰三角形 3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-14605" y="3086735"/>
            <a:ext cx="1671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LRU-K置换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3668" y="2079006"/>
            <a:ext cx="1691680" cy="788186"/>
            <a:chOff x="0" y="1272662"/>
            <a:chExt cx="1691680" cy="788186"/>
          </a:xfrm>
          <a:solidFill>
            <a:srgbClr val="0070C0"/>
          </a:solidFill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LRU-K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2852936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可扩展哈希表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/>
                        <a:t>缓冲池</a:t>
                      </a:r>
                      <a:r>
                        <a:rPr lang="zh-CN" altLang="en-US"/>
                        <a:t>管理器</a:t>
                      </a:r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可扩展哈希表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LRU-K</a:t>
                      </a: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0" y="2060697"/>
            <a:ext cx="1691680" cy="788186"/>
            <a:chOff x="0" y="1272662"/>
            <a:chExt cx="1691680" cy="788186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等腰三角形 4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缓冲池管理器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594748"/>
            <a:ext cx="1691680" cy="1276995"/>
            <a:chOff x="0" y="1594748"/>
            <a:chExt cx="1691680" cy="1276995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2083557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-142" y="2885456"/>
            <a:ext cx="1691680" cy="788186"/>
            <a:chOff x="0" y="1272662"/>
            <a:chExt cx="1691680" cy="788186"/>
          </a:xfrm>
          <a:solidFill>
            <a:srgbClr val="0070C0"/>
          </a:solidFill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LRU-K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置换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可扩展哈希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2063631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可扩展哈希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365430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可扩展哈希表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127178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缓冲池管理器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844705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树数据结构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并发索引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迭代器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 userDrawn="1"/>
        </p:nvGrpSpPr>
        <p:grpSpPr>
          <a:xfrm>
            <a:off x="0" y="1844797"/>
            <a:ext cx="1691680" cy="788186"/>
            <a:chOff x="0" y="1272662"/>
            <a:chExt cx="1691680" cy="788186"/>
          </a:xfrm>
        </p:grpSpPr>
        <p:sp>
          <p:nvSpPr>
            <p:cNvPr id="33" name="矩形 3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B+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树页面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等腰三角形 3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825020"/>
          <a:ext cx="1691680" cy="28317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7775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索引迭代器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 userDrawn="1"/>
        </p:nvSpPr>
        <p:spPr>
          <a:xfrm>
            <a:off x="0" y="1824990"/>
            <a:ext cx="1691640" cy="788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页面构建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35" y="2613025"/>
            <a:ext cx="1691640" cy="1268730"/>
            <a:chOff x="3508" y="4058"/>
            <a:chExt cx="2710" cy="1998"/>
          </a:xfrm>
        </p:grpSpPr>
        <p:sp>
          <p:nvSpPr>
            <p:cNvPr id="28" name="矩形 27"/>
            <p:cNvSpPr/>
            <p:nvPr userDrawn="1"/>
          </p:nvSpPr>
          <p:spPr>
            <a:xfrm>
              <a:off x="3508" y="4058"/>
              <a:ext cx="2711" cy="19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B+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树数据结构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并发索引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5986" y="4969"/>
              <a:ext cx="235" cy="23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845340"/>
          <a:ext cx="1691680" cy="293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树页面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构建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684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92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811780"/>
            <a:ext cx="1691640" cy="100266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树数据结构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并发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4009390"/>
            <a:ext cx="1691640" cy="788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16200000">
            <a:off x="1547495" y="4331335"/>
            <a:ext cx="144145" cy="1441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861215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B+Tree Pages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Index Iterator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6616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B+Tree Data Structure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1630700"/>
            <a:ext cx="2001560" cy="3398530"/>
            <a:chOff x="-309880" y="1594748"/>
            <a:chExt cx="2001560" cy="3398530"/>
          </a:xfrm>
        </p:grpSpPr>
        <p:sp>
          <p:nvSpPr>
            <p:cNvPr id="12" name="矩形 11"/>
            <p:cNvSpPr/>
            <p:nvPr userDrawn="1"/>
          </p:nvSpPr>
          <p:spPr>
            <a:xfrm>
              <a:off x="-309880" y="420509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Concurrent Index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sp>
        <p:nvSpPr>
          <p:cNvPr id="10" name="等腰三角形 9"/>
          <p:cNvSpPr/>
          <p:nvPr userDrawn="1"/>
        </p:nvSpPr>
        <p:spPr>
          <a:xfrm rot="16200000">
            <a:off x="1592114" y="4580760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8" Type="http://schemas.openxmlformats.org/officeDocument/2006/relationships/theme" Target="../theme/theme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.xml"/><Relationship Id="rId8" Type="http://schemas.openxmlformats.org/officeDocument/2006/relationships/slideLayout" Target="../slideLayouts/slideLayout49.xml"/><Relationship Id="rId7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42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0" Type="http://schemas.openxmlformats.org/officeDocument/2006/relationships/theme" Target="../theme/theme6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.png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33.xml"/><Relationship Id="rId1" Type="http://schemas.openxmlformats.org/officeDocument/2006/relationships/tags" Target="../tags/tag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6.png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86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8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7" Type="http://schemas.openxmlformats.org/officeDocument/2006/relationships/notesSlide" Target="../notesSlides/notesSlide21.x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tags" Target="../tags/tag112.xml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52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2"/>
          <p:cNvSpPr txBox="1">
            <a:spLocks noChangeArrowheads="1"/>
          </p:cNvSpPr>
          <p:nvPr/>
        </p:nvSpPr>
        <p:spPr bwMode="auto">
          <a:xfrm>
            <a:off x="1774031" y="2590410"/>
            <a:ext cx="8622422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数据库实验</a:t>
            </a:r>
            <a:r>
              <a:rPr kumimoji="0" lang="zh-CN" altLang="en-US" sz="7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汇报</a:t>
            </a:r>
            <a:endParaRPr kumimoji="0" lang="zh-CN" altLang="en-US" sz="7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  <a:cs typeface="+mn-cs"/>
            </a:endParaRPr>
          </a:p>
        </p:txBody>
      </p:sp>
      <p:sp>
        <p:nvSpPr>
          <p:cNvPr id="25" name="TextBox 23"/>
          <p:cNvSpPr txBox="1">
            <a:spLocks noChangeArrowheads="1"/>
          </p:cNvSpPr>
          <p:nvPr/>
        </p:nvSpPr>
        <p:spPr bwMode="auto">
          <a:xfrm>
            <a:off x="2411730" y="4029075"/>
            <a:ext cx="736854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     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小组成员：崔烁、程予嘉迎、姜来、</a:t>
            </a:r>
            <a:r>
              <a:rPr lang="zh-CN" altLang="en-US" sz="18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sym typeface="+mn-ea"/>
              </a:rPr>
              <a:t>邵靖淇、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李江、宋韦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瑾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"/>
          <p:cNvSpPr txBox="1">
            <a:spLocks noChangeArrowheads="1"/>
          </p:cNvSpPr>
          <p:nvPr/>
        </p:nvSpPr>
        <p:spPr bwMode="auto">
          <a:xfrm>
            <a:off x="234049" y="331824"/>
            <a:ext cx="365531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目录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/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221740" y="1814195"/>
            <a:ext cx="3056890" cy="3060700"/>
            <a:chOff x="1924" y="1805"/>
            <a:chExt cx="4814" cy="4820"/>
          </a:xfrm>
        </p:grpSpPr>
        <p:sp>
          <p:nvSpPr>
            <p:cNvPr id="29" name="矩形 28"/>
            <p:cNvSpPr/>
            <p:nvPr/>
          </p:nvSpPr>
          <p:spPr>
            <a:xfrm>
              <a:off x="1924" y="1805"/>
              <a:ext cx="2208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</a:t>
              </a: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一：</a:t>
              </a:r>
              <a:endParaRPr kumimoji="0" lang="zh-CN" altLang="en-US" sz="2400" b="0" i="0" u="none" strike="noStrike" kern="1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570" y="2855"/>
              <a:ext cx="4168" cy="724"/>
              <a:chOff x="2570" y="2855"/>
              <a:chExt cx="4168" cy="724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2570" y="298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570" y="2855"/>
                <a:ext cx="316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缓冲池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管理器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570" y="4379"/>
              <a:ext cx="4168" cy="724"/>
              <a:chOff x="2570" y="3686"/>
              <a:chExt cx="4168" cy="724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3570" y="3686"/>
                <a:ext cx="316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可扩展哈希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表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2570" y="3825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2570" y="5901"/>
              <a:ext cx="3678" cy="724"/>
              <a:chOff x="2570" y="4517"/>
              <a:chExt cx="3678" cy="724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570" y="4517"/>
                <a:ext cx="267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LRU-K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置换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2570" y="467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6093460" y="1814195"/>
            <a:ext cx="4611370" cy="3062605"/>
            <a:chOff x="9596" y="1805"/>
            <a:chExt cx="7262" cy="4823"/>
          </a:xfrm>
        </p:grpSpPr>
        <p:sp>
          <p:nvSpPr>
            <p:cNvPr id="32" name="矩形 31"/>
            <p:cNvSpPr/>
            <p:nvPr/>
          </p:nvSpPr>
          <p:spPr>
            <a:xfrm>
              <a:off x="9596" y="1805"/>
              <a:ext cx="2208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</a:t>
              </a: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二：</a:t>
              </a:r>
              <a:endParaRPr kumimoji="0" lang="zh-CN" altLang="en-US" sz="2400" b="0" i="0" u="none" strike="noStrike" kern="1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0176" y="2856"/>
              <a:ext cx="4345" cy="725"/>
              <a:chOff x="2570" y="2855"/>
              <a:chExt cx="4345" cy="725"/>
            </a:xfrm>
          </p:grpSpPr>
          <p:sp>
            <p:nvSpPr>
              <p:cNvPr id="43" name="椭圆 42"/>
              <p:cNvSpPr/>
              <p:nvPr/>
            </p:nvSpPr>
            <p:spPr>
              <a:xfrm>
                <a:off x="2570" y="298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570" y="2855"/>
                <a:ext cx="3345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B+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树页面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构建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0176" y="4380"/>
              <a:ext cx="6683" cy="725"/>
              <a:chOff x="2570" y="2855"/>
              <a:chExt cx="6683" cy="725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2570" y="298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3570" y="2855"/>
                <a:ext cx="5683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B+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树数据结构</a:t>
                </a: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&amp;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并发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索引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0176" y="5904"/>
              <a:ext cx="3688" cy="725"/>
              <a:chOff x="2570" y="4517"/>
              <a:chExt cx="3688" cy="725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3570" y="4517"/>
                <a:ext cx="268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索引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迭代器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570" y="467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837919" y="2643364"/>
            <a:ext cx="42976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缓冲池管理</a:t>
            </a: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器</a:t>
            </a:r>
            <a:endParaRPr kumimoji="0" lang="zh-CN" altLang="zh-CN" sz="5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82490" y="3884930"/>
            <a:ext cx="27603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Buffer Pool Manager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882413" y="3699047"/>
            <a:ext cx="42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3840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缓冲池管理器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机制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2047875" y="1274445"/>
            <a:ext cx="436816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System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的角度，它只需要向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Buffer Pool Manager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BPM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请求一个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id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，然后等待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BPM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在内存中的地址即可。在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BPM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内部，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Fetch(page_id)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时会先用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可扩展哈希表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是否已经在内存中。哈希表找到的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 id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就是内存数组的下标，通过它就能直接返回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的地址。如果哈希表中找不到，说明这个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不在内存，需要从磁盘把它读进来，并在内存中给它分配一个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Buffer Pool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中的灰色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表示空闲位置。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BPM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会优先从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Free List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取一个空闲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。如果没有空闲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，就说明内存已满，需要通过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LRU-K Replacer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找到一个可以驱逐的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，腾出空间，再把磁盘中的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读进来。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110" y="1565275"/>
            <a:ext cx="5849620" cy="4185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4754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缓冲池管理器的类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实现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4370705" y="2585720"/>
            <a:ext cx="7698105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先加锁，若页已在缓冲池命中则提升 pin、记录访问并设为不可驱逐后直接返回；未命中则从空闲或替换器找一帧，若无可用帧返回 nullptr；若复用帧上有脏页先写回并移除映射，然后从磁盘读入目标页，设置 page_id、pin_count=1、is_dirty=false，更新页表并记录访问、设为不可驱逐，最后返回该页帧。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Content Placeholder 2"/>
          <p:cNvSpPr txBox="1"/>
          <p:nvPr/>
        </p:nvSpPr>
        <p:spPr>
          <a:xfrm>
            <a:off x="4363720" y="3728720"/>
            <a:ext cx="7660640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用于“用完页面后归还”：加锁后先查页表获取帧，若不存在或 pin_count 已不合法则返回 false；否则将 pin_count 减 1，若调用者标记 is_dirty 则设脏；当 pin_count 归零时把该帧标为可驱逐（交给替换器），最后返回 true。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Content Placeholder 2"/>
          <p:cNvSpPr txBox="1"/>
          <p:nvPr/>
        </p:nvSpPr>
        <p:spPr>
          <a:xfrm>
            <a:off x="4350385" y="4759325"/>
            <a:ext cx="7475855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删除指定页面：加锁后查页表，若不在缓冲池则直接调用 DeallocatePage 释放 page_id 并返回 true；若在缓冲池但 pin_count&gt;0，表示正被使用，返回 false；否则移除页表映射，并在替换器中标记可驱逐后删除记录（异常忽略），重置页帧内容与元数据，放回空闲列表，再调用 DeallocatePage 释放 page_id，最后返回 true。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4" name="任意多边形 93"/>
          <p:cNvSpPr/>
          <p:nvPr/>
        </p:nvSpPr>
        <p:spPr>
          <a:xfrm>
            <a:off x="2284095" y="3773805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2284095" y="4892040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任意多边形 99"/>
          <p:cNvSpPr/>
          <p:nvPr/>
        </p:nvSpPr>
        <p:spPr>
          <a:xfrm>
            <a:off x="2284095" y="1537335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2284095" y="2655570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" name="Content Placeholder 2"/>
          <p:cNvSpPr txBox="1"/>
          <p:nvPr/>
        </p:nvSpPr>
        <p:spPr>
          <a:xfrm>
            <a:off x="4378325" y="1432560"/>
            <a:ext cx="7578725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负责创建新页的流程：先加锁；从空闲列表或替换器选一帧，若无帧可用返回 nullptr；若该帧原先有页且是脏页，先写回磁盘并移除页表映射。然后分配新的 page_id，重置帧内容，设置 page_id、pin_count=1、is_dirty=false；插入页表并记录访问，标记该帧不可驱逐，最后返回该帧指针。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2284095" y="6010275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42765" y="6057900"/>
            <a:ext cx="6759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2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将指定页面写回磁盘：加锁后在页表中查找页面，未找到返回 false；找到后用 disk_manager_ 写盘，成功后清除该页的脏标记并返回 true。</a:t>
            </a:r>
            <a:endParaRPr lang="en-US" altLang="zh-CN" sz="120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5405" y="2840990"/>
            <a:ext cx="165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Fet</a:t>
            </a:r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chPgImp</a:t>
            </a:r>
            <a:endParaRPr lang="en-US" altLang="zh-CN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5405" y="1725295"/>
            <a:ext cx="1772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NewPgImp</a:t>
            </a:r>
            <a:endParaRPr kumimoji="0" lang="en-US" altLang="zh-CN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86990" y="3960495"/>
            <a:ext cx="165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UnpinPgImp</a:t>
            </a:r>
            <a:endParaRPr lang="en-US" altLang="zh-CN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62225" y="5104130"/>
            <a:ext cx="1680845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355600">
              <a:lnSpc>
                <a:spcPct val="90000"/>
              </a:lnSpc>
              <a:spcAft>
                <a:spcPct val="35000"/>
              </a:spcAft>
              <a:buClrTx/>
              <a:buSzTx/>
              <a:buFontTx/>
              <a:defRPr/>
            </a:pPr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DeletePgImp</a:t>
            </a:r>
            <a:endParaRPr lang="en-US" altLang="zh-CN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85085" y="5820410"/>
            <a:ext cx="165989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FlushPgImp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3" grpId="0"/>
      <p:bldP spid="64" grpId="0"/>
      <p:bldP spid="10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0645" y="1458595"/>
            <a:ext cx="5396230" cy="5297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837919" y="2643364"/>
            <a:ext cx="42976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可扩展</a:t>
            </a: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哈希表</a:t>
            </a:r>
            <a:endParaRPr kumimoji="0" lang="zh-CN" altLang="zh-CN" sz="5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19270" y="3884930"/>
            <a:ext cx="35375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Extendible Hashing Table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882413" y="3699047"/>
            <a:ext cx="42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5669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可扩展哈希表的概念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与特点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1" name="TextBox 30"/>
          <p:cNvSpPr txBox="1"/>
          <p:nvPr/>
        </p:nvSpPr>
        <p:spPr>
          <a:xfrm>
            <a:off x="2047253" y="141156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设计动机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2047875" y="1910080"/>
            <a:ext cx="250825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传统链式哈希采用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处理冲突，桶数固定，装载因子升高时链表变长，查找效率下降；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当需要扩容时，往往要整体重建哈希表、重新计算所有键的哈希位置，代价很高；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在数据库等需要长期运行的大规模场景中，希望哈希表能随着数据量按需扩展，又尽量避免全表重哈希。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TextBox 30"/>
          <p:cNvSpPr txBox="1"/>
          <p:nvPr/>
        </p:nvSpPr>
        <p:spPr>
          <a:xfrm>
            <a:off x="4759338" y="141156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基本思想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TextBox 29"/>
          <p:cNvSpPr txBox="1"/>
          <p:nvPr/>
        </p:nvSpPr>
        <p:spPr>
          <a:xfrm>
            <a:off x="4751705" y="1910080"/>
            <a:ext cx="24212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引入一个可扩展的目录，目录大小由全局深度决定，每个目录项指向一个桶；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每个桶有自己的局部深度，表示它用哈希值的多少位来区分键；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插入时如果某个桶满了，就只分裂该桶，必要时再把目录长度翻倍，而不重建整个哈希表。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310" y="2135505"/>
            <a:ext cx="4465320" cy="3559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实现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计划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2047875" y="1490980"/>
            <a:ext cx="868235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Insert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Remove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操作需要注意：在实现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Bucket::Insert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时，必须先检查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是否存在；若存在则更新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value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，而不能先判断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是否已满。若先判断满桶，会导致在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中已存在该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时误报满桶，从而无法更新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对应的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value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，进而影响后续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Find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的正确性。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6285" y="2749550"/>
            <a:ext cx="902589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下面给出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Insert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的具体算法流程，并结合可能出现的情况说明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执行顺序：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、尝试插入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Key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。若插入成功则返回；若失败，继续执行步骤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、检查桶是否已满。根据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IndexOf(key)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定位到对应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，若桶未满则插入；若已满，执行步骤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、判断是否需要扩展目录（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Directory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global depth = local depth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，说明桶已满且目录位数不足，需要将目录大小扩展一倍（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 depth+1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），并将新增的目录项指向原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。否则跳至步骤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、分裂桶（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Bucket Split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）。记录当前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mask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，创建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bucket1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depth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，并按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mask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中的所有元素重新分配到两个新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中。完成后执行步骤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、更新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Directory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指向。对所有原先指向该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的目录项，根据新的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mask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更新它们的指向，使其指向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bucket1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、重新计算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IndexOf(key)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，然后返回步骤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、插入指定的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key/value pair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/>
          <p:cNvSpPr txBox="1"/>
          <p:nvPr/>
        </p:nvSpPr>
        <p:spPr>
          <a:xfrm>
            <a:off x="2210764" y="520172"/>
            <a:ext cx="1783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Example</a:t>
            </a:r>
            <a:endParaRPr kumimoji="0" lang="en-US" altLang="zh-CN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2" name="TextBox 30"/>
          <p:cNvSpPr txBox="1"/>
          <p:nvPr/>
        </p:nvSpPr>
        <p:spPr>
          <a:xfrm>
            <a:off x="2218690" y="1276350"/>
            <a:ext cx="8879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假定每一个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bucket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的容量大小为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，且哈希函数用最低的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个二进制位，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global depth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。按顺序插入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23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。这几个数对应的二进制分别是，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1110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10111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27275" y="227647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6975" y="2583180"/>
            <a:ext cx="2783840" cy="88265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2308225" y="3459480"/>
            <a:ext cx="40830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STEP 2：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757930"/>
            <a:ext cx="2881630" cy="101536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975" y="4803140"/>
            <a:ext cx="2881630" cy="184785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6518275" y="2291080"/>
            <a:ext cx="44913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3：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275" y="2597785"/>
            <a:ext cx="3937635" cy="1682750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6518275" y="4524375"/>
            <a:ext cx="44913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4：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275" y="4773295"/>
            <a:ext cx="2846705" cy="1804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210764" y="520172"/>
            <a:ext cx="1783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Example</a:t>
            </a:r>
            <a:endParaRPr kumimoji="0" lang="en-US" altLang="zh-CN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11070" y="1422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STEP5: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3810"/>
          <a:stretch>
            <a:fillRect/>
          </a:stretch>
        </p:blipFill>
        <p:spPr>
          <a:xfrm>
            <a:off x="2152650" y="1817370"/>
            <a:ext cx="2483485" cy="14973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51095" y="1422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STEP6: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740" y="1739900"/>
            <a:ext cx="3691255" cy="20231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710" y="1715770"/>
            <a:ext cx="2820670" cy="19786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52650" y="3720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STEP7: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510" y="4084955"/>
            <a:ext cx="2120900" cy="23221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l="2148" t="7241" r="5762" b="6953"/>
          <a:stretch>
            <a:fillRect/>
          </a:stretch>
        </p:blipFill>
        <p:spPr>
          <a:xfrm>
            <a:off x="2363470" y="4096385"/>
            <a:ext cx="3434715" cy="1799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045347" y="520172"/>
            <a:ext cx="6820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ExtendibleHashTable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037715" y="1677035"/>
            <a:ext cx="4822825" cy="1652905"/>
            <a:chOff x="1087372" y="1757964"/>
            <a:chExt cx="3941083" cy="1411491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087372" y="1757964"/>
              <a:ext cx="3941083" cy="1178474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t" anchorCtr="0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IndexOf`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用当前全局深度生成掩码，只取哈希值的低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global_depth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位作为目录索引；当深度为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（掩码为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）时，所有键都落在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0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号桶。这样目录扩容时，只需增加深度，索引自动细分。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1124675" y="2664392"/>
              <a:ext cx="1270065" cy="505063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6228" tIns="49083" rIns="66228" bIns="49083" numCol="1" spcCol="1270" anchor="ctr" anchorCtr="0">
              <a:noAutofit/>
            </a:bodyPr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Indexof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4"/>
            </p:custDataLst>
          </p:nvPr>
        </p:nvGrpSpPr>
        <p:grpSpPr>
          <a:xfrm>
            <a:off x="3311525" y="4157984"/>
            <a:ext cx="7240905" cy="1774186"/>
            <a:chOff x="2881087" y="1504285"/>
            <a:chExt cx="6184142" cy="1565215"/>
          </a:xfrm>
        </p:grpSpPr>
        <p:sp>
          <p:nvSpPr>
            <p:cNvPr id="34" name="任意多边形 33"/>
            <p:cNvSpPr/>
            <p:nvPr>
              <p:custDataLst>
                <p:tags r:id="rId5"/>
              </p:custDataLst>
            </p:nvPr>
          </p:nvSpPr>
          <p:spPr>
            <a:xfrm>
              <a:off x="2881087" y="1758156"/>
              <a:ext cx="6184142" cy="1311344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b" anchorCtr="0">
              <a:noAutofit/>
            </a:bodyPr>
            <a:lstStyle/>
            <a:p>
              <a:pPr marL="214630" marR="0" lvl="1" indent="-214630" algn="l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defRPr/>
              </a:pP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6"/>
              </p:custDataLst>
            </p:nvPr>
          </p:nvSpPr>
          <p:spPr>
            <a:xfrm>
              <a:off x="5204843" y="1504285"/>
              <a:ext cx="1270065" cy="505063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Insert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2" name="左弧形箭头 11"/>
          <p:cNvSpPr/>
          <p:nvPr/>
        </p:nvSpPr>
        <p:spPr>
          <a:xfrm rot="16200000">
            <a:off x="5095240" y="999490"/>
            <a:ext cx="635635" cy="53581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965" y="2075815"/>
            <a:ext cx="5149215" cy="981075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3351530" y="4545330"/>
            <a:ext cx="7200900" cy="1717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先加锁，循环重试；计算索引</a:t>
            </a:r>
            <a:r>
              <a:rPr lang="en-US" altLang="zh-CN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            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拿到桶，若桶缺失则防御性创建；若键已存在则更新值直接返回；若桶未满直接插入返回；若桶已满，取其局部深度，若等于全局深度先把目录整体翻倍，然后分裂该桶（局部深度+1并重新分配目录指针和元素），再继续循环重试插入，直到成功。</a:t>
            </a:r>
            <a:endParaRPr lang="zh-CN" altLang="en-US" sz="140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Lao UI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958330" y="2075815"/>
            <a:ext cx="5149215" cy="98171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045347" y="520172"/>
            <a:ext cx="6820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ExtendibleHashTable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045205" y="1677232"/>
            <a:ext cx="4050998" cy="1994317"/>
            <a:chOff x="1061056" y="1757964"/>
            <a:chExt cx="3459782" cy="1703260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087372" y="1757964"/>
              <a:ext cx="3433466" cy="1495735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t" anchorCtr="0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Find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会加锁保证线程安全；若目录为空直接返回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false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；用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key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计算索引拿到对应桶，桶不存在也返回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false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；否则在桶的链表中查找该键，命中则把值写到传入的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value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并返回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true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，未命中返回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false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1061056" y="2956161"/>
              <a:ext cx="1270065" cy="505063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6228" tIns="49083" rIns="66228" bIns="49083" numCol="1" spcCol="1270" anchor="ctr" anchorCtr="0">
              <a:noAutofit/>
            </a:bodyPr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Find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4"/>
            </p:custDataLst>
          </p:nvPr>
        </p:nvGrpSpPr>
        <p:grpSpPr>
          <a:xfrm>
            <a:off x="1958714" y="4773081"/>
            <a:ext cx="4200526" cy="1809115"/>
            <a:chOff x="2781201" y="1505432"/>
            <a:chExt cx="3587486" cy="1545087"/>
          </a:xfrm>
        </p:grpSpPr>
        <p:sp>
          <p:nvSpPr>
            <p:cNvPr id="34" name="任意多边形 33"/>
            <p:cNvSpPr/>
            <p:nvPr>
              <p:custDataLst>
                <p:tags r:id="rId5"/>
              </p:custDataLst>
            </p:nvPr>
          </p:nvSpPr>
          <p:spPr>
            <a:xfrm>
              <a:off x="2781201" y="1746225"/>
              <a:ext cx="3533795" cy="1233249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b" anchorCtr="0">
              <a:noAutofit/>
            </a:bodyPr>
            <a:lstStyle/>
            <a:p>
              <a:pPr marL="214630" marR="0" lvl="1" indent="-214630" algn="l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defRPr/>
              </a:pP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6"/>
              </p:custDataLst>
            </p:nvPr>
          </p:nvSpPr>
          <p:spPr>
            <a:xfrm>
              <a:off x="2839230" y="1505432"/>
              <a:ext cx="1217522" cy="504905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Remove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7"/>
              </p:custDataLst>
            </p:nvPr>
          </p:nvSpPr>
          <p:spPr>
            <a:xfrm>
              <a:off x="2781201" y="1746225"/>
              <a:ext cx="3587486" cy="130429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           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Remove 会先加锁；若目录为空直接返回 false；用 key 算出目录索引拿到对应桶，桶不存在也返回 false；否则调用桶的 Remove 在线性链表里删除该键，并返回删除是否成功。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6307455" y="1913255"/>
            <a:ext cx="5177790" cy="151511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306185" y="5109210"/>
            <a:ext cx="4574540" cy="1472565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弧形箭头 13"/>
          <p:cNvSpPr/>
          <p:nvPr/>
        </p:nvSpPr>
        <p:spPr>
          <a:xfrm rot="16200000">
            <a:off x="4538345" y="1809750"/>
            <a:ext cx="517525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左弧形箭头 15"/>
          <p:cNvSpPr/>
          <p:nvPr/>
        </p:nvSpPr>
        <p:spPr>
          <a:xfrm rot="5400000" flipV="1">
            <a:off x="4608830" y="2371725"/>
            <a:ext cx="517525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4440" y="1928495"/>
            <a:ext cx="5162550" cy="1485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4440" y="5125720"/>
            <a:ext cx="4565650" cy="1441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045347" y="520172"/>
            <a:ext cx="6820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ExtendibleHashTable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045205" y="1677232"/>
            <a:ext cx="4050998" cy="1993900"/>
            <a:chOff x="1061056" y="1757964"/>
            <a:chExt cx="3459782" cy="1702904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087372" y="1757964"/>
              <a:ext cx="3433466" cy="1495735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t" anchorCtr="0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GetGlobalDepth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返回当前全局深度（目录索引使用的位数）。先加锁保证线程安全，然后返回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global_depth_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。全局深度决定目录大小（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2^global_depth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），深度越大，目录越大，桶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                   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分布越细。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1061056" y="2955962"/>
              <a:ext cx="1914411" cy="504906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6228" tIns="49083" rIns="66228" bIns="49083" numCol="1" spcCol="1270" anchor="ctr" anchorCtr="0">
              <a:noAutofit/>
            </a:bodyPr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GetGlobalDepth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4"/>
            </p:custDataLst>
          </p:nvPr>
        </p:nvGrpSpPr>
        <p:grpSpPr>
          <a:xfrm>
            <a:off x="1839961" y="4646103"/>
            <a:ext cx="4611370" cy="2100579"/>
            <a:chOff x="2679779" y="1575953"/>
            <a:chExt cx="3938370" cy="1794014"/>
          </a:xfrm>
        </p:grpSpPr>
        <p:sp>
          <p:nvSpPr>
            <p:cNvPr id="34" name="任意多边形 33"/>
            <p:cNvSpPr/>
            <p:nvPr>
              <p:custDataLst>
                <p:tags r:id="rId5"/>
              </p:custDataLst>
            </p:nvPr>
          </p:nvSpPr>
          <p:spPr>
            <a:xfrm>
              <a:off x="2781194" y="1746243"/>
              <a:ext cx="3836955" cy="1623724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b" anchorCtr="0">
              <a:noAutofit/>
            </a:bodyPr>
            <a:lstStyle/>
            <a:p>
              <a:pPr marL="214630" marR="0" lvl="1" indent="-214630" algn="l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defRPr/>
              </a:pP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6"/>
              </p:custDataLst>
            </p:nvPr>
          </p:nvSpPr>
          <p:spPr>
            <a:xfrm>
              <a:off x="2679779" y="1575953"/>
              <a:ext cx="1791302" cy="504906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GetLocalDepth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7"/>
              </p:custDataLst>
            </p:nvPr>
          </p:nvSpPr>
          <p:spPr>
            <a:xfrm>
              <a:off x="2781194" y="1708825"/>
              <a:ext cx="3836413" cy="10889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                           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GetLocalDepth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返回指定目录索引位置桶的局部深度。先加锁；检查索引是否有效（非负、在目录范围内、桶存在），无效返回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-1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；否则返回该桶的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local_depth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。局部深度表示该桶在分裂时使用的位数，可能小于全局深度（多个目录项可指向同一桶）。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6607810" y="2666365"/>
            <a:ext cx="4629785" cy="76200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627495" y="4958080"/>
            <a:ext cx="5035550" cy="83439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弧形箭头 13"/>
          <p:cNvSpPr/>
          <p:nvPr>
            <p:custDataLst>
              <p:tags r:id="rId8"/>
            </p:custDataLst>
          </p:nvPr>
        </p:nvSpPr>
        <p:spPr>
          <a:xfrm rot="16200000">
            <a:off x="4609465" y="1738630"/>
            <a:ext cx="375285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左弧形箭头 15"/>
          <p:cNvSpPr/>
          <p:nvPr>
            <p:custDataLst>
              <p:tags r:id="rId9"/>
            </p:custDataLst>
          </p:nvPr>
        </p:nvSpPr>
        <p:spPr>
          <a:xfrm rot="5400000" flipV="1">
            <a:off x="4711065" y="2353945"/>
            <a:ext cx="313690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7810" y="2666365"/>
            <a:ext cx="4629150" cy="76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4005" y="4958080"/>
            <a:ext cx="5019040" cy="834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108506" y="1929448"/>
            <a:ext cx="3806536" cy="4005187"/>
            <a:chOff x="2108506" y="1929448"/>
            <a:chExt cx="3806536" cy="4005187"/>
          </a:xfrm>
        </p:grpSpPr>
        <p:grpSp>
          <p:nvGrpSpPr>
            <p:cNvPr id="16" name="网线"/>
            <p:cNvGrpSpPr/>
            <p:nvPr/>
          </p:nvGrpSpPr>
          <p:grpSpPr>
            <a:xfrm>
              <a:off x="2108506" y="1929448"/>
              <a:ext cx="3806536" cy="4005187"/>
              <a:chOff x="1937437" y="1332541"/>
              <a:chExt cx="3986578" cy="4192919"/>
            </a:xfrm>
          </p:grpSpPr>
          <p:sp>
            <p:nvSpPr>
              <p:cNvPr id="17" name="Line 16"/>
              <p:cNvSpPr>
                <a:spLocks noChangeShapeType="1"/>
              </p:cNvSpPr>
              <p:nvPr/>
            </p:nvSpPr>
            <p:spPr bwMode="gray">
              <a:xfrm>
                <a:off x="1937437" y="3430588"/>
                <a:ext cx="3986578" cy="0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75000"/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gray">
              <a:xfrm flipH="1">
                <a:off x="3931520" y="1332541"/>
                <a:ext cx="0" cy="4192919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75000"/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Oval 10"/>
              <p:cNvSpPr>
                <a:spLocks noChangeArrowheads="1"/>
              </p:cNvSpPr>
              <p:nvPr/>
            </p:nvSpPr>
            <p:spPr bwMode="gray">
              <a:xfrm>
                <a:off x="2332760" y="1808648"/>
                <a:ext cx="3192756" cy="3216899"/>
              </a:xfrm>
              <a:prstGeom prst="ellipse">
                <a:avLst/>
              </a:prstGeom>
              <a:noFill/>
              <a:ln w="9525">
                <a:solidFill>
                  <a:schemeClr val="accent6">
                    <a:lumMod val="75000"/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64999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Oval 15"/>
              <p:cNvSpPr>
                <a:spLocks noChangeArrowheads="1"/>
              </p:cNvSpPr>
              <p:nvPr/>
            </p:nvSpPr>
            <p:spPr bwMode="auto">
              <a:xfrm>
                <a:off x="2135892" y="1600749"/>
                <a:ext cx="3608719" cy="3643808"/>
              </a:xfrm>
              <a:prstGeom prst="ellipse">
                <a:avLst/>
              </a:prstGeom>
              <a:noFill/>
              <a:ln w="19050">
                <a:solidFill>
                  <a:schemeClr val="accent6"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7" name="标题"/>
            <p:cNvGrpSpPr/>
            <p:nvPr/>
          </p:nvGrpSpPr>
          <p:grpSpPr>
            <a:xfrm>
              <a:off x="2729370" y="2651160"/>
              <a:ext cx="2548130" cy="2599019"/>
              <a:chOff x="579" y="1589"/>
              <a:chExt cx="1358" cy="1358"/>
            </a:xfrm>
            <a:solidFill>
              <a:schemeClr val="accent1"/>
            </a:solidFill>
          </p:grpSpPr>
          <p:sp>
            <p:nvSpPr>
              <p:cNvPr id="28" name="Oval 12"/>
              <p:cNvSpPr>
                <a:spLocks noChangeArrowheads="1"/>
              </p:cNvSpPr>
              <p:nvPr/>
            </p:nvSpPr>
            <p:spPr bwMode="gray">
              <a:xfrm>
                <a:off x="579" y="1589"/>
                <a:ext cx="1358" cy="1358"/>
              </a:xfrm>
              <a:prstGeom prst="ellipse">
                <a:avLst/>
              </a:prstGeom>
              <a:grpFill/>
              <a:ln w="38100">
                <a:solidFill>
                  <a:srgbClr val="F8F8F8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Oval 13"/>
              <p:cNvSpPr>
                <a:spLocks noChangeArrowheads="1"/>
              </p:cNvSpPr>
              <p:nvPr/>
            </p:nvSpPr>
            <p:spPr bwMode="gray">
              <a:xfrm>
                <a:off x="635" y="1642"/>
                <a:ext cx="1245" cy="1246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DDDDDD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Oval 14"/>
              <p:cNvSpPr>
                <a:spLocks noChangeArrowheads="1"/>
              </p:cNvSpPr>
              <p:nvPr/>
            </p:nvSpPr>
            <p:spPr bwMode="gray">
              <a:xfrm>
                <a:off x="865" y="1880"/>
                <a:ext cx="797" cy="798"/>
              </a:xfrm>
              <a:prstGeom prst="ellipse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B2B2B2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00000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Bucket</a:t>
                </a:r>
                <a:endPara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31" name="文本5"/>
          <p:cNvSpPr>
            <a:spLocks noChangeArrowheads="1"/>
          </p:cNvSpPr>
          <p:nvPr/>
        </p:nvSpPr>
        <p:spPr bwMode="black">
          <a:xfrm>
            <a:off x="5069145" y="5354209"/>
            <a:ext cx="2231470" cy="28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72576" tIns="36288" rIns="72576" bIns="36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Remove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函数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文本3"/>
          <p:cNvSpPr>
            <a:spLocks noChangeArrowheads="1"/>
          </p:cNvSpPr>
          <p:nvPr/>
        </p:nvSpPr>
        <p:spPr bwMode="black">
          <a:xfrm>
            <a:off x="6010547" y="3807165"/>
            <a:ext cx="2229954" cy="28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72576" tIns="36288" rIns="72576" bIns="36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Insert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函数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1"/>
          <p:cNvSpPr>
            <a:spLocks noChangeArrowheads="1"/>
          </p:cNvSpPr>
          <p:nvPr/>
        </p:nvSpPr>
        <p:spPr bwMode="black">
          <a:xfrm>
            <a:off x="5019120" y="2216155"/>
            <a:ext cx="2231470" cy="28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72576" tIns="36288" rIns="72576" bIns="36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Find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函数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圆圈1"/>
          <p:cNvGrpSpPr/>
          <p:nvPr/>
        </p:nvGrpSpPr>
        <p:grpSpPr>
          <a:xfrm>
            <a:off x="4622607" y="2168096"/>
            <a:ext cx="364018" cy="363999"/>
            <a:chOff x="2928" y="2208"/>
            <a:chExt cx="262" cy="262"/>
          </a:xfrm>
          <a:solidFill>
            <a:schemeClr val="accent1"/>
          </a:solidFill>
        </p:grpSpPr>
        <p:sp>
          <p:nvSpPr>
            <p:cNvPr id="37" name="Oval 19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pFill/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Oval 20"/>
            <p:cNvSpPr>
              <a:spLocks noChangeArrowheads="1"/>
            </p:cNvSpPr>
            <p:nvPr/>
          </p:nvSpPr>
          <p:spPr bwMode="gray">
            <a:xfrm>
              <a:off x="2953" y="2230"/>
              <a:ext cx="218" cy="21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圆圈3"/>
          <p:cNvGrpSpPr/>
          <p:nvPr/>
        </p:nvGrpSpPr>
        <p:grpSpPr>
          <a:xfrm>
            <a:off x="5633013" y="3746557"/>
            <a:ext cx="364018" cy="363999"/>
            <a:chOff x="2928" y="2208"/>
            <a:chExt cx="262" cy="262"/>
          </a:xfrm>
          <a:solidFill>
            <a:schemeClr val="accent1"/>
          </a:solidFill>
        </p:grpSpPr>
        <p:sp>
          <p:nvSpPr>
            <p:cNvPr id="43" name="Oval 31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pFill/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Oval 32"/>
            <p:cNvSpPr>
              <a:spLocks noChangeArrowheads="1"/>
            </p:cNvSpPr>
            <p:nvPr/>
          </p:nvSpPr>
          <p:spPr bwMode="gray">
            <a:xfrm>
              <a:off x="2950" y="2230"/>
              <a:ext cx="218" cy="21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8" name="圆圈5"/>
          <p:cNvGrpSpPr/>
          <p:nvPr/>
        </p:nvGrpSpPr>
        <p:grpSpPr>
          <a:xfrm>
            <a:off x="4704256" y="5287601"/>
            <a:ext cx="364018" cy="363999"/>
            <a:chOff x="2928" y="2208"/>
            <a:chExt cx="262" cy="262"/>
          </a:xfrm>
          <a:solidFill>
            <a:schemeClr val="accent1"/>
          </a:solidFill>
        </p:grpSpPr>
        <p:sp>
          <p:nvSpPr>
            <p:cNvPr id="49" name="Oval 37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pFill/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Oval 38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1" name="文本框 74"/>
          <p:cNvSpPr txBox="1">
            <a:spLocks noChangeArrowheads="1"/>
          </p:cNvSpPr>
          <p:nvPr/>
        </p:nvSpPr>
        <p:spPr bwMode="auto">
          <a:xfrm>
            <a:off x="5915025" y="1562100"/>
            <a:ext cx="4069080" cy="1687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576" tIns="36288" rIns="72576" bIns="36288">
            <a:spAutoFit/>
          </a:bodyPr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是桶内部的查找函数：遍历桶内链表 list_，比较每个键值对的 key；若找到匹配的 key，将对应的 value 写入传入的 value 并返回 true；遍历完未找到则返回 false。这是桶内线性查找的实现，时间复杂度为 O(n)，其中 n 是桶内元素数量。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文本框 75"/>
          <p:cNvSpPr txBox="1">
            <a:spLocks noChangeArrowheads="1"/>
          </p:cNvSpPr>
          <p:nvPr/>
        </p:nvSpPr>
        <p:spPr bwMode="auto">
          <a:xfrm>
            <a:off x="6898005" y="3414395"/>
            <a:ext cx="3739515" cy="2011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576" tIns="36288" rIns="72576" bIns="36288">
            <a:spAutoFit/>
          </a:bodyPr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是桶内部的插入函数：先遍历链表检查 key 是否已存在，存在则更新 value 并返回 true；若不存在且桶未满，在链表末尾插入新键值对并返回 true；若桶已满则返回 false。该函数不处理桶满时的分裂，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由外层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Insert 负责在返回 false 时触发目录倍增和桶分裂。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381262" y="520172"/>
            <a:ext cx="38665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Bucket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0915" y="5551170"/>
            <a:ext cx="4064000" cy="12966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是桶内部的删除函数：遍历链表查找匹配的 key；找到后用迭代器删除该键值对并返回 true；未找到则返回 false。这是桶内线性删除的实现，时间复杂度为 O(n)，n 是桶内元素数量。</a:t>
            </a:r>
            <a:endParaRPr lang="en-US" altLang="zh-CN" sz="140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25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3" grpId="0" bldLvl="0" animBg="1"/>
      <p:bldP spid="35" grpId="0" bldLvl="0" animBg="1"/>
      <p:bldP spid="51" grpId="0"/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2226640" y="520172"/>
            <a:ext cx="1884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zh-CN" altLang="en-US" sz="32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测试结果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3005" y="1518920"/>
            <a:ext cx="5687060" cy="4945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103753" y="2982389"/>
            <a:ext cx="4241084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LRU-K </a:t>
            </a: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置换</a:t>
            </a:r>
            <a:endParaRPr kumimoji="0" lang="zh-CN" altLang="en-US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6904" y="3966305"/>
            <a:ext cx="2409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LRU-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K Replacer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100295" y="3854495"/>
            <a:ext cx="42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9"/>
          <p:cNvSpPr txBox="1"/>
          <p:nvPr/>
        </p:nvSpPr>
        <p:spPr>
          <a:xfrm>
            <a:off x="2211070" y="1319530"/>
            <a:ext cx="91935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Buffer Pool就是缓存数据的池子，最大容量为3个page。Disk上面的Data数不胜数，当需要数据时系统会从Buffer Pool检索，如果检索到了，则直接从内存中提出数据，并且通知LRU-K Replacement Policy组件调用了这个page。如果没检索到，就从硬盘中读取一块。如果此时Buffer Pool满了，那就询问LRU-K Replacement Policy组件，索要一个可以驱逐的frame id号，系统再根据这个frame id从内存中把对应的page重新写回硬盘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150" y="3201035"/>
            <a:ext cx="5838190" cy="36436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11070" y="674370"/>
            <a:ext cx="8188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LRU-K 置换策略在 Buffer Pool 中的作用</a:t>
            </a:r>
            <a:endParaRPr lang="en-US" sz="3200" spc="15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11070" y="674370"/>
            <a:ext cx="8188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LRU&amp;</a:t>
            </a:r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endParaRPr lang="en-US" sz="3200" spc="15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6736165" y="1765968"/>
            <a:ext cx="0" cy="4185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6288191" y="3220687"/>
            <a:ext cx="895948" cy="895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VS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TextBox 12"/>
          <p:cNvSpPr txBox="1"/>
          <p:nvPr/>
        </p:nvSpPr>
        <p:spPr>
          <a:xfrm>
            <a:off x="2766060" y="2547620"/>
            <a:ext cx="34709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453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LRU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算法存在的问题是，当存在大量的一次性操作时，会把历史的缓存冲刷掉，而新进入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buffer pool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有可能之后不会再访问了，被冲刷掉的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是之前保留下来的比较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有用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”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，这就是缓存污染问题。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3362815" y="2020044"/>
            <a:ext cx="25876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LRU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7286930" y="2036778"/>
            <a:ext cx="25876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spcBef>
                <a:spcPct val="0"/>
              </a:spcBef>
              <a:defRPr sz="2400" b="1">
                <a:gradFill>
                  <a:gsLst>
                    <a:gs pos="0">
                      <a:srgbClr val="BE8C83"/>
                    </a:gs>
                    <a:gs pos="100000">
                      <a:srgbClr val="BE8C83"/>
                    </a:gs>
                    <a:gs pos="50000">
                      <a:srgbClr val="FFEEE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LRU-K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7309485" y="2575560"/>
            <a:ext cx="373697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453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LRU-K的思路是，永远最先驱逐访问次数小于K次的page。网上的很多讲解是直接维护两个链表，一个叫做history list，另一个叫buffer list。新加入的page总会先进入history list，当访问次数等于指定的次数K次时，就会从history list删除，并移动到buffer list的尾部。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/>
      <p:bldP spid="7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H_SubTitle_4"/>
          <p:cNvSpPr/>
          <p:nvPr>
            <p:custDataLst>
              <p:tags r:id="rId1"/>
            </p:custDataLst>
          </p:nvPr>
        </p:nvSpPr>
        <p:spPr>
          <a:xfrm>
            <a:off x="1735455" y="3876040"/>
            <a:ext cx="3960000" cy="504000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Step1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MH_SubTitle_4"/>
          <p:cNvSpPr/>
          <p:nvPr>
            <p:custDataLst>
              <p:tags r:id="rId2"/>
            </p:custDataLst>
          </p:nvPr>
        </p:nvSpPr>
        <p:spPr>
          <a:xfrm>
            <a:off x="4900930" y="3039745"/>
            <a:ext cx="3960000" cy="504000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Step2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30" y="1922780"/>
            <a:ext cx="3547110" cy="11156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590" y="4418330"/>
            <a:ext cx="4149090" cy="1219200"/>
          </a:xfrm>
          <a:prstGeom prst="rect">
            <a:avLst/>
          </a:prstGeom>
        </p:spPr>
      </p:pic>
      <p:sp>
        <p:nvSpPr>
          <p:cNvPr id="2" name="MH_SubTitle_4"/>
          <p:cNvSpPr/>
          <p:nvPr>
            <p:custDataLst>
              <p:tags r:id="rId5"/>
            </p:custDataLst>
          </p:nvPr>
        </p:nvSpPr>
        <p:spPr>
          <a:xfrm>
            <a:off x="8067675" y="2195195"/>
            <a:ext cx="3960000" cy="504000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Step3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210764" y="520172"/>
            <a:ext cx="1783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Example</a:t>
            </a:r>
            <a:endParaRPr kumimoji="0" lang="en-US" altLang="zh-CN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3" name="MH_Other_5"/>
          <p:cNvSpPr/>
          <p:nvPr>
            <p:custDataLst>
              <p:tags r:id="rId6"/>
            </p:custDataLst>
          </p:nvPr>
        </p:nvSpPr>
        <p:spPr>
          <a:xfrm flipH="1" flipV="1">
            <a:off x="8067675" y="2698750"/>
            <a:ext cx="793750" cy="850900"/>
          </a:xfrm>
          <a:custGeom>
            <a:avLst/>
            <a:gdLst/>
            <a:ahLst/>
            <a:cxnLst/>
            <a:rect l="l" t="t" r="r" b="b"/>
            <a:pathLst>
              <a:path w="432000" h="720080">
                <a:moveTo>
                  <a:pt x="432000" y="0"/>
                </a:moveTo>
                <a:lnTo>
                  <a:pt x="432000" y="432000"/>
                </a:lnTo>
                <a:lnTo>
                  <a:pt x="432000" y="720080"/>
                </a:lnTo>
                <a:lnTo>
                  <a:pt x="0" y="72008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MH_Other_5"/>
          <p:cNvSpPr/>
          <p:nvPr>
            <p:custDataLst>
              <p:tags r:id="rId7"/>
            </p:custDataLst>
          </p:nvPr>
        </p:nvSpPr>
        <p:spPr>
          <a:xfrm flipH="1" flipV="1">
            <a:off x="4900930" y="3544570"/>
            <a:ext cx="794385" cy="840105"/>
          </a:xfrm>
          <a:custGeom>
            <a:avLst/>
            <a:gdLst/>
            <a:ahLst/>
            <a:cxnLst/>
            <a:rect l="l" t="t" r="r" b="b"/>
            <a:pathLst>
              <a:path w="432000" h="720080">
                <a:moveTo>
                  <a:pt x="432000" y="0"/>
                </a:moveTo>
                <a:lnTo>
                  <a:pt x="432000" y="432000"/>
                </a:lnTo>
                <a:lnTo>
                  <a:pt x="432000" y="720080"/>
                </a:lnTo>
                <a:lnTo>
                  <a:pt x="0" y="72008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5455" y="4403725"/>
            <a:ext cx="4387850" cy="17151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45785" y="3540125"/>
            <a:ext cx="1847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接着再访问key=2的page。</a:t>
            </a:r>
            <a:endParaRPr lang="zh-CN" altLang="en-US" sz="160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85390" y="2530475"/>
            <a:ext cx="235585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首先插入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key=1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，它们的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分别是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。原因是这里的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用它来记录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的次数，也就是访问的次数。</a:t>
            </a:r>
            <a:endParaRPr lang="zh-CN" altLang="en-US" sz="1600" b="0" i="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80780" y="2649855"/>
            <a:ext cx="27698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接着尝试插入key=4的page，发现buffer pool满了，那么就需要对某一个page进行缓存驱逐，根据原则：永远最先驱逐访问次数小于K的page。所以先驱逐掉3，再加4到history list中。</a:t>
            </a:r>
            <a:endParaRPr lang="en-US" altLang="zh-CN" sz="160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2226322" y="520172"/>
            <a:ext cx="53778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LRUKReplacer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20" name="组合 19"/>
          <p:cNvGrpSpPr/>
          <p:nvPr>
            <p:custDataLst>
              <p:tags r:id="rId1"/>
            </p:custDataLst>
          </p:nvPr>
        </p:nvGrpSpPr>
        <p:grpSpPr>
          <a:xfrm>
            <a:off x="2396490" y="1402080"/>
            <a:ext cx="2660650" cy="2550795"/>
            <a:chOff x="2210764" y="2469120"/>
            <a:chExt cx="2154377" cy="2550936"/>
          </a:xfrm>
        </p:grpSpPr>
        <p:sp>
          <p:nvSpPr>
            <p:cNvPr id="21" name="矩形 20"/>
            <p:cNvSpPr/>
            <p:nvPr>
              <p:custDataLst>
                <p:tags r:id="rId2"/>
              </p:custDataLst>
            </p:nvPr>
          </p:nvSpPr>
          <p:spPr>
            <a:xfrm>
              <a:off x="2210764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2210764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4"/>
              </p:custDataLst>
            </p:nvPr>
          </p:nvSpPr>
          <p:spPr>
            <a:xfrm>
              <a:off x="2561812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RecordAccess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2216934" y="2846327"/>
              <a:ext cx="2148207" cy="2030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RecordAccess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记录帧的一次访问并维护状态：先加锁，校验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frame_id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合法；递增时间戳，把当前时间压入该帧的访问队列，若长度超过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只保留最近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次；首次出现的帧默认标记为不可淘汰（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evictable=false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），且不计入可驱逐计数。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6"/>
            </p:custDataLst>
          </p:nvPr>
        </p:nvGrpSpPr>
        <p:grpSpPr>
          <a:xfrm>
            <a:off x="6835138" y="4150360"/>
            <a:ext cx="3456000" cy="2550795"/>
            <a:chOff x="4634836" y="2469120"/>
            <a:chExt cx="2186522" cy="2550936"/>
          </a:xfrm>
        </p:grpSpPr>
        <p:sp>
          <p:nvSpPr>
            <p:cNvPr id="26" name="矩形 25"/>
            <p:cNvSpPr/>
            <p:nvPr>
              <p:custDataLst>
                <p:tags r:id="rId7"/>
              </p:custDataLst>
            </p:nvPr>
          </p:nvSpPr>
          <p:spPr>
            <a:xfrm>
              <a:off x="4646325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矩形 26"/>
            <p:cNvSpPr/>
            <p:nvPr>
              <p:custDataLst>
                <p:tags r:id="rId8"/>
              </p:custDataLst>
            </p:nvPr>
          </p:nvSpPr>
          <p:spPr>
            <a:xfrm>
              <a:off x="4646325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9"/>
              </p:custDataLst>
            </p:nvPr>
          </p:nvSpPr>
          <p:spPr>
            <a:xfrm>
              <a:off x="4997373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SetEvictable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0"/>
              </p:custDataLst>
            </p:nvPr>
          </p:nvSpPr>
          <p:spPr>
            <a:xfrm>
              <a:off x="4634836" y="2804421"/>
              <a:ext cx="2186522" cy="21318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SetEvictable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用来设置某帧是否可被淘汰，并维护可驱逐计数：先加锁校验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frame_id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合法；若该帧还没访问记录，只更新可驱逐标志后返回；否则记录旧状态，更新为新状态，并根据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不可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可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或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可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不可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调整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curr_size_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（可驱逐帧数），防止计数错误。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11"/>
            </p:custDataLst>
          </p:nvPr>
        </p:nvGrpSpPr>
        <p:grpSpPr>
          <a:xfrm>
            <a:off x="8357870" y="1395095"/>
            <a:ext cx="2734944" cy="2550795"/>
            <a:chOff x="7070092" y="2469120"/>
            <a:chExt cx="2208704" cy="2550936"/>
          </a:xfrm>
        </p:grpSpPr>
        <p:sp>
          <p:nvSpPr>
            <p:cNvPr id="31" name="矩形 30"/>
            <p:cNvSpPr/>
            <p:nvPr>
              <p:custDataLst>
                <p:tags r:id="rId12"/>
              </p:custDataLst>
            </p:nvPr>
          </p:nvSpPr>
          <p:spPr>
            <a:xfrm>
              <a:off x="7081887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13"/>
              </p:custDataLst>
            </p:nvPr>
          </p:nvSpPr>
          <p:spPr>
            <a:xfrm>
              <a:off x="7081887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14"/>
              </p:custDataLst>
            </p:nvPr>
          </p:nvSpPr>
          <p:spPr>
            <a:xfrm>
              <a:off x="7432935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Remove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5"/>
              </p:custDataLst>
            </p:nvPr>
          </p:nvSpPr>
          <p:spPr>
            <a:xfrm>
              <a:off x="7070092" y="2797435"/>
              <a:ext cx="2208704" cy="1753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Remove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删除可驱逐帧的记录：加锁后查访问历史，若没有该帧直接返回；再检查可驱逐标志，若不存在或为不可驱逐则抛异常；否则从访问历史和可驱逐表中删除该帧，并把可驱逐计数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curr_size_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减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1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（不低于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0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6"/>
            </p:custDataLst>
          </p:nvPr>
        </p:nvGrpSpPr>
        <p:grpSpPr>
          <a:xfrm>
            <a:off x="3099435" y="4150360"/>
            <a:ext cx="3461385" cy="2614294"/>
            <a:chOff x="9517448" y="2469120"/>
            <a:chExt cx="2143064" cy="2614439"/>
          </a:xfrm>
        </p:grpSpPr>
        <p:sp>
          <p:nvSpPr>
            <p:cNvPr id="36" name="矩形 35"/>
            <p:cNvSpPr/>
            <p:nvPr>
              <p:custDataLst>
                <p:tags r:id="rId17"/>
              </p:custDataLst>
            </p:nvPr>
          </p:nvSpPr>
          <p:spPr>
            <a:xfrm>
              <a:off x="9517448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18"/>
              </p:custDataLst>
            </p:nvPr>
          </p:nvSpPr>
          <p:spPr>
            <a:xfrm>
              <a:off x="9517448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9"/>
              </p:custDataLst>
            </p:nvPr>
          </p:nvSpPr>
          <p:spPr>
            <a:xfrm>
              <a:off x="9868496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Evict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20"/>
              </p:custDataLst>
            </p:nvPr>
          </p:nvSpPr>
          <p:spPr>
            <a:xfrm>
              <a:off x="9517448" y="2776476"/>
              <a:ext cx="2143064" cy="2307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Evict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实现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LRU-K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的淘汰选择：加锁后，若无可驱逐帧直接返回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false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；先在可驱逐帧里找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访问次数少于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的，按最早访问时间挑出候选；若没有这类帧，再在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访问次数不少于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的里按第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次访问时间最早挑出候选。选中后写回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frame_id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，移除其访问记录和可驱逐标记并递减可驱逐计数，返回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true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；若没找到合适帧则返回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false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21"/>
            </p:custDataLst>
          </p:nvPr>
        </p:nvGrpSpPr>
        <p:grpSpPr>
          <a:xfrm>
            <a:off x="5387340" y="1402080"/>
            <a:ext cx="2758437" cy="2550795"/>
            <a:chOff x="9517448" y="2469120"/>
            <a:chExt cx="2229277" cy="2550936"/>
          </a:xfrm>
        </p:grpSpPr>
        <p:sp>
          <p:nvSpPr>
            <p:cNvPr id="48" name="矩形 47"/>
            <p:cNvSpPr/>
            <p:nvPr>
              <p:custDataLst>
                <p:tags r:id="rId22"/>
              </p:custDataLst>
            </p:nvPr>
          </p:nvSpPr>
          <p:spPr>
            <a:xfrm>
              <a:off x="9517448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23"/>
              </p:custDataLst>
            </p:nvPr>
          </p:nvSpPr>
          <p:spPr>
            <a:xfrm>
              <a:off x="9517448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24"/>
              </p:custDataLst>
            </p:nvPr>
          </p:nvSpPr>
          <p:spPr>
            <a:xfrm>
              <a:off x="9868496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Size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25"/>
              </p:custDataLst>
            </p:nvPr>
          </p:nvSpPr>
          <p:spPr>
            <a:xfrm>
              <a:off x="9551316" y="2818389"/>
              <a:ext cx="2195409" cy="645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Size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返回当前可淘汰帧的数量：加锁保证线程安全后直接返回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curr_size_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26640" y="520172"/>
            <a:ext cx="1884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zh-CN" altLang="en-US" sz="32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测试结果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6110" y="1511935"/>
            <a:ext cx="6955790" cy="4958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52545" y="1802130"/>
            <a:ext cx="4297680" cy="2713355"/>
            <a:chOff x="6114" y="1552"/>
            <a:chExt cx="6768" cy="4273"/>
          </a:xfrm>
        </p:grpSpPr>
        <p:grpSp>
          <p:nvGrpSpPr>
            <p:cNvPr id="5" name="组合 4"/>
            <p:cNvGrpSpPr/>
            <p:nvPr/>
          </p:nvGrpSpPr>
          <p:grpSpPr>
            <a:xfrm>
              <a:off x="8169" y="1552"/>
              <a:ext cx="2489" cy="2489"/>
              <a:chOff x="5081757" y="1878010"/>
              <a:chExt cx="1392667" cy="1392667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5081757" y="1878010"/>
                <a:ext cx="1392667" cy="139266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" name="Freeform 11"/>
              <p:cNvSpPr/>
              <p:nvPr/>
            </p:nvSpPr>
            <p:spPr bwMode="auto">
              <a:xfrm>
                <a:off x="5205936" y="2296629"/>
                <a:ext cx="1144307" cy="630491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6114" y="4207"/>
              <a:ext cx="6768" cy="14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B+</a:t>
              </a:r>
              <a:r>
                <a:rPr kumimoji="0" lang="zh-CN" altLang="en-US" sz="5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树</a:t>
              </a:r>
              <a:r>
                <a:rPr kumimoji="0" lang="zh-CN" altLang="en-US" sz="5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页面构建</a:t>
              </a:r>
              <a:endParaRPr kumimoji="0" lang="zh-CN" altLang="en-US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114" y="5825"/>
              <a:ext cx="669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2597785" y="1686560"/>
            <a:ext cx="8460740" cy="929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这是内部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⻚⾯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和叶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⻚⾯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都继承的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类。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⽗⻚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仅包含两个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类共享的信息。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⽗⻚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被划分为如下表所示的多个字段。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 data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4KB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中，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24Byte 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⽤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于存放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header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，剩下的则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⽤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于存放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tree page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的数据，即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KV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对。</a:t>
            </a:r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10764" y="520172"/>
            <a:ext cx="6812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树父页面类（</a:t>
            </a: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BPlusTreePage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0125" y="3137535"/>
            <a:ext cx="6272530" cy="2273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8227695" y="3041015"/>
            <a:ext cx="3964305" cy="2293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实现功能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GetMaxSize(), GetMinSize()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等辅助方法。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GetMinSize():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通常是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max_size / 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。这是用来判断节点是否发生下溢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(Underflow)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的关键阈值，如果节点的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size_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小于它，就需要触发合并或借位操作。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764" y="520172"/>
            <a:ext cx="6812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B+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树父页面类（</a:t>
            </a: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BPlusTreePage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353820"/>
            <a:ext cx="6674485" cy="14344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832100"/>
            <a:ext cx="5330825" cy="131254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4188460"/>
            <a:ext cx="5894705" cy="253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210764" y="520172"/>
            <a:ext cx="8641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树内部页面（</a:t>
            </a: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BPlusTreeInternalPage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795" y="4377690"/>
            <a:ext cx="6218555" cy="16490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45" y="1619250"/>
            <a:ext cx="3733800" cy="22428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8227695" y="4418330"/>
            <a:ext cx="3964305" cy="1364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Lookup()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：这是查找的核心。在这里实现了在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页面内部的有序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array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中进行二分查找的逻辑。它通过比较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，找到正确的子节点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PageId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，实现向下遍历。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71030" y="1947545"/>
            <a:ext cx="4563745" cy="164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KV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是能够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⽐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较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⼤⼩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的索引，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page 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⽤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来指向下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层的节点。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Project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中要求，第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为空。主要是因为在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n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可以将数轴划分为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n+1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个区域，也就对应着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n+1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value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2210764" y="520172"/>
            <a:ext cx="8641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B+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树内部页面（</a:t>
            </a: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BPlusTreeInternalPage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7880" y="1500505"/>
            <a:ext cx="6395085" cy="13214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111500"/>
            <a:ext cx="6730365" cy="3155315"/>
          </a:xfrm>
          <a:prstGeom prst="rect">
            <a:avLst/>
          </a:prstGeom>
        </p:spPr>
      </p:pic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8727440" y="1390650"/>
            <a:ext cx="3316605" cy="1856740"/>
          </a:xfrm>
          <a:custGeom>
            <a:avLst/>
            <a:gdLst>
              <a:gd name="connsiteX0" fmla="*/ 0 w 1905098"/>
              <a:gd name="connsiteY0" fmla="*/ 157131 h 1571307"/>
              <a:gd name="connsiteX1" fmla="*/ 157131 w 1905098"/>
              <a:gd name="connsiteY1" fmla="*/ 0 h 1571307"/>
              <a:gd name="connsiteX2" fmla="*/ 1747967 w 1905098"/>
              <a:gd name="connsiteY2" fmla="*/ 0 h 1571307"/>
              <a:gd name="connsiteX3" fmla="*/ 1905098 w 1905098"/>
              <a:gd name="connsiteY3" fmla="*/ 157131 h 1571307"/>
              <a:gd name="connsiteX4" fmla="*/ 1905098 w 1905098"/>
              <a:gd name="connsiteY4" fmla="*/ 1414176 h 1571307"/>
              <a:gd name="connsiteX5" fmla="*/ 1747967 w 1905098"/>
              <a:gd name="connsiteY5" fmla="*/ 1571307 h 1571307"/>
              <a:gd name="connsiteX6" fmla="*/ 157131 w 1905098"/>
              <a:gd name="connsiteY6" fmla="*/ 1571307 h 1571307"/>
              <a:gd name="connsiteX7" fmla="*/ 0 w 1905098"/>
              <a:gd name="connsiteY7" fmla="*/ 1414176 h 1571307"/>
              <a:gd name="connsiteX8" fmla="*/ 0 w 1905098"/>
              <a:gd name="connsiteY8" fmla="*/ 157131 h 15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098" h="1571307">
                <a:moveTo>
                  <a:pt x="0" y="157131"/>
                </a:moveTo>
                <a:cubicBezTo>
                  <a:pt x="0" y="70350"/>
                  <a:pt x="70350" y="0"/>
                  <a:pt x="157131" y="0"/>
                </a:cubicBezTo>
                <a:lnTo>
                  <a:pt x="1747967" y="0"/>
                </a:lnTo>
                <a:cubicBezTo>
                  <a:pt x="1834748" y="0"/>
                  <a:pt x="1905098" y="70350"/>
                  <a:pt x="1905098" y="157131"/>
                </a:cubicBezTo>
                <a:lnTo>
                  <a:pt x="1905098" y="1414176"/>
                </a:lnTo>
                <a:cubicBezTo>
                  <a:pt x="1905098" y="1500957"/>
                  <a:pt x="1834748" y="1571307"/>
                  <a:pt x="1747967" y="1571307"/>
                </a:cubicBezTo>
                <a:lnTo>
                  <a:pt x="157131" y="1571307"/>
                </a:lnTo>
                <a:cubicBezTo>
                  <a:pt x="70350" y="1571307"/>
                  <a:pt x="0" y="1500957"/>
                  <a:pt x="0" y="1414176"/>
                </a:cubicBezTo>
                <a:lnTo>
                  <a:pt x="0" y="157131"/>
                </a:lnTo>
                <a:close/>
              </a:path>
            </a:pathLst>
          </a:custGeom>
          <a:noFill/>
          <a:ln>
            <a:solidFill>
              <a:srgbClr val="40404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840" tIns="72840" rIns="72840" bIns="325372" numCol="1" spcCol="1270" anchor="t" anchorCtr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这是树高增加</a:t>
            </a:r>
            <a:r>
              <a:rPr lang="en-US" altLang="zh-CN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(Tree Height Increase)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时的特殊逻辑。当根节点分裂时，需要调用</a:t>
            </a:r>
            <a:r>
              <a:rPr lang="en-US" altLang="zh-CN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BufferPoolManager::NewPage()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创建一个新的根页面，并将旧根和分裂出来的新页面作为它的两个子节点。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8862695" y="3359150"/>
            <a:ext cx="3181350" cy="2513330"/>
          </a:xfrm>
          <a:custGeom>
            <a:avLst/>
            <a:gdLst>
              <a:gd name="connsiteX0" fmla="*/ 0 w 1905098"/>
              <a:gd name="connsiteY0" fmla="*/ 157131 h 1571307"/>
              <a:gd name="connsiteX1" fmla="*/ 157131 w 1905098"/>
              <a:gd name="connsiteY1" fmla="*/ 0 h 1571307"/>
              <a:gd name="connsiteX2" fmla="*/ 1747967 w 1905098"/>
              <a:gd name="connsiteY2" fmla="*/ 0 h 1571307"/>
              <a:gd name="connsiteX3" fmla="*/ 1905098 w 1905098"/>
              <a:gd name="connsiteY3" fmla="*/ 157131 h 1571307"/>
              <a:gd name="connsiteX4" fmla="*/ 1905098 w 1905098"/>
              <a:gd name="connsiteY4" fmla="*/ 1414176 h 1571307"/>
              <a:gd name="connsiteX5" fmla="*/ 1747967 w 1905098"/>
              <a:gd name="connsiteY5" fmla="*/ 1571307 h 1571307"/>
              <a:gd name="connsiteX6" fmla="*/ 157131 w 1905098"/>
              <a:gd name="connsiteY6" fmla="*/ 1571307 h 1571307"/>
              <a:gd name="connsiteX7" fmla="*/ 0 w 1905098"/>
              <a:gd name="connsiteY7" fmla="*/ 1414176 h 1571307"/>
              <a:gd name="connsiteX8" fmla="*/ 0 w 1905098"/>
              <a:gd name="connsiteY8" fmla="*/ 157131 h 15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098" h="1571307">
                <a:moveTo>
                  <a:pt x="0" y="157131"/>
                </a:moveTo>
                <a:cubicBezTo>
                  <a:pt x="0" y="70350"/>
                  <a:pt x="70350" y="0"/>
                  <a:pt x="157131" y="0"/>
                </a:cubicBezTo>
                <a:lnTo>
                  <a:pt x="1747967" y="0"/>
                </a:lnTo>
                <a:cubicBezTo>
                  <a:pt x="1834748" y="0"/>
                  <a:pt x="1905098" y="70350"/>
                  <a:pt x="1905098" y="157131"/>
                </a:cubicBezTo>
                <a:lnTo>
                  <a:pt x="1905098" y="1414176"/>
                </a:lnTo>
                <a:cubicBezTo>
                  <a:pt x="1905098" y="1500957"/>
                  <a:pt x="1834748" y="1571307"/>
                  <a:pt x="1747967" y="1571307"/>
                </a:cubicBezTo>
                <a:lnTo>
                  <a:pt x="157131" y="1571307"/>
                </a:lnTo>
                <a:cubicBezTo>
                  <a:pt x="70350" y="1571307"/>
                  <a:pt x="0" y="1500957"/>
                  <a:pt x="0" y="1414176"/>
                </a:cubicBezTo>
                <a:lnTo>
                  <a:pt x="0" y="157131"/>
                </a:lnTo>
                <a:close/>
              </a:path>
            </a:pathLst>
          </a:custGeom>
          <a:noFill/>
          <a:ln>
            <a:solidFill>
              <a:srgbClr val="40404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840" tIns="72840" rIns="72840" bIns="325372" numCol="1" spcCol="1270" anchor="t" anchorCtr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各种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Move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函数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MoveHalfTo, MoveFirstToLastOf, MoveLastToFrontOf):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这些是实现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Task 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中分裂、合并和借位操作的底层数组操作。例如，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MoveHalfTo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会将当前页面后一半的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 Key/PageId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映射移动到新的兄弟内部节点中。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文本框 53"/>
          <p:cNvSpPr txBox="1"/>
          <p:nvPr/>
        </p:nvSpPr>
        <p:spPr>
          <a:xfrm>
            <a:off x="2210764" y="520172"/>
            <a:ext cx="7269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B+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树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叶页面（</a:t>
            </a: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BPlusTreeLeafPage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525" y="3952240"/>
            <a:ext cx="6242050" cy="263398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211070" y="1528445"/>
            <a:ext cx="8618855" cy="1036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Leaf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中，每个键值对（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KV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对）中，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K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代表实际的索引，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⽽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则表示记录的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Record 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），它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⽤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于唯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标识表中的某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条数据。与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不同的是，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Leaf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的键值对是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的关系，不像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Value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多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76615" y="4509770"/>
            <a:ext cx="3477260" cy="1036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Insert():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实现页面内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的有序插入。由于叶子节点是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Key-Value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(Key-RID)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，插入后需要保持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的有序性。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70" y="2653665"/>
            <a:ext cx="5621655" cy="1025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91475" y="2423160"/>
            <a:ext cx="4133215" cy="1343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MoveHalfTo(...):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分裂的关键。将当前叶子节点后一半的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Key-Value (RID)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数组移动到新的兄弟叶子节点。同时，必须更新两个叶子节点的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next_page_id_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链表指针，确保范围查询的连续性。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907030" y="3013075"/>
            <a:ext cx="6633845" cy="24218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B+</a:t>
            </a: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树数据结构</a:t>
            </a:r>
            <a:endParaRPr kumimoji="0" lang="en-US" altLang="zh-CN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&amp;</a:t>
            </a:r>
            <a:endParaRPr kumimoji="0" lang="en-US" altLang="zh-CN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并发</a:t>
            </a: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索引</a:t>
            </a:r>
            <a:endParaRPr kumimoji="0" lang="zh-CN" altLang="en-US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484345" y="5281340"/>
            <a:ext cx="5479415" cy="889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434135" y="1315452"/>
            <a:ext cx="1580321" cy="1580321"/>
            <a:chOff x="5434135" y="1315452"/>
            <a:chExt cx="1580321" cy="1580321"/>
          </a:xfrm>
        </p:grpSpPr>
        <p:sp>
          <p:nvSpPr>
            <p:cNvPr id="2" name="椭圆 1"/>
            <p:cNvSpPr/>
            <p:nvPr/>
          </p:nvSpPr>
          <p:spPr>
            <a:xfrm>
              <a:off x="5434135" y="1315452"/>
              <a:ext cx="1580321" cy="158032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Freeform 7"/>
            <p:cNvSpPr>
              <a:spLocks noEditPoints="1"/>
            </p:cNvSpPr>
            <p:nvPr/>
          </p:nvSpPr>
          <p:spPr bwMode="auto">
            <a:xfrm>
              <a:off x="5684045" y="1658520"/>
              <a:ext cx="1080500" cy="88544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并发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5260" y="1411605"/>
            <a:ext cx="6761480" cy="1264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核心机制：蟹行协议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(Latch Crabbing)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FindLeaf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函数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加锁的核心战场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这个函数不仅用于查找，还负责在下降过程中管理锁。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）根节点锁处理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(Root Latch)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607945" y="2826385"/>
            <a:ext cx="7405370" cy="3804920"/>
            <a:chOff x="3769" y="4601"/>
            <a:chExt cx="11662" cy="599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69" y="4601"/>
              <a:ext cx="11662" cy="5992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315" y="6867"/>
              <a:ext cx="3556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如果之前锁了根，先解开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846" y="7105"/>
              <a:ext cx="3556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 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锁住根页面的读锁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770" y="7608"/>
              <a:ext cx="3556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 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插入</a:t>
              </a: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删除：锁住根页面的写锁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396" y="9909"/>
              <a:ext cx="5561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检查根节点是否安全，如果安全则释放</a:t>
              </a: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 transaction 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中的祖先锁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并发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3245" y="1259840"/>
            <a:ext cx="3571240" cy="560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）向下遍历与蟹行加锁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(Loop logic)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418840" y="1677035"/>
            <a:ext cx="5449570" cy="4942840"/>
            <a:chOff x="5384" y="2641"/>
            <a:chExt cx="8582" cy="778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84" y="2641"/>
              <a:ext cx="8583" cy="7784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7793" y="6380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锁子节点（拿）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374" y="6622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解父节点（放）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863" y="7279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锁子节点（拿）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839" y="7512"/>
              <a:ext cx="38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将父节点加入事务记录（暂不释放！</a:t>
              </a:r>
              <a:r>
                <a:rPr lang="zh-CN" altLang="en-US" sz="1000">
                  <a:latin typeface="+mn-ea"/>
                </a:rPr>
                <a:t>）</a:t>
              </a:r>
              <a:endParaRPr lang="zh-CN" altLang="en-US" sz="1000">
                <a:latin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420" y="8402"/>
              <a:ext cx="436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如果子节点未满</a:t>
              </a:r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 (size &lt; max - 1)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，说明在这里插入不会导致分裂，不会波及父节点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49" y="9765"/>
              <a:ext cx="436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如果子节点半满以上</a:t>
              </a:r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 (size &gt; min)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，说明删除不会导致合并，不会波及父节点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9460" y="2678430"/>
            <a:ext cx="5767705" cy="267208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并发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5260" y="1411605"/>
            <a:ext cx="6761480" cy="1020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）释放祖先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锁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这个函数实现了提前释放锁的逻辑。当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FindLeaf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发现当前节点是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安全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”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的时候，就会调用它，把之前路径上持有的所有写锁一次性释放掉。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 descr="concurrent测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290" y="2542540"/>
            <a:ext cx="4558030" cy="2686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5" y="2506345"/>
            <a:ext cx="4207510" cy="2722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查找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9600" y="1586865"/>
            <a:ext cx="6148705" cy="2562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65375" y="4448810"/>
            <a:ext cx="8907145" cy="182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并发准备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Page ID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加读锁。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树遍历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调用核心函数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FindLeaf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，从根节点开始递归下降。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              FindLeaf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在下降过程中，使用蟹行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协议：先锁住子节点，再释放父节点，保证查询过程的并发安全。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内存查找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到达叶子节点后，调用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LeafPage::Lookup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在当前页面的有序数组中进行快速内存搜索。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资源清理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查找完毕后，释放叶子节点的读锁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(leaf_page-&gt;RUnlatch())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并通过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UnpinPage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释放。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16" name="TextBox 29"/>
          <p:cNvSpPr txBox="1"/>
          <p:nvPr/>
        </p:nvSpPr>
        <p:spPr>
          <a:xfrm>
            <a:off x="3644265" y="3947160"/>
            <a:ext cx="5826125" cy="2428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如果树为空，创建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个新的叶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结点，并将记录插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其中，成为根结点。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结点：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找到叶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结点，插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记录。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如果当前结点的键的数量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⼩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m-1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否则，将叶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结点分裂成左右两个叶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结点，更新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结点的索引信息。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对于索引结点：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如果当前结点的键的数量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⼩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m-1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否则，将索引结点分裂成左右两个索引结点，更新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结点的索引信息。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895" y="1569085"/>
            <a:ext cx="4380865" cy="1995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83940" y="1358265"/>
            <a:ext cx="166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+mn-ea"/>
                <a:cs typeface="+mn-ea"/>
              </a:rPr>
              <a:t>4</a:t>
            </a:r>
            <a:r>
              <a:rPr lang="zh-CN" altLang="en-US" sz="1200">
                <a:latin typeface="+mn-ea"/>
                <a:cs typeface="+mn-ea"/>
              </a:rPr>
              <a:t>阶</a:t>
            </a:r>
            <a:r>
              <a:rPr lang="en-US" altLang="zh-CN" sz="1200">
                <a:latin typeface="+mn-ea"/>
                <a:cs typeface="+mn-ea"/>
              </a:rPr>
              <a:t>B+</a:t>
            </a:r>
            <a:r>
              <a:rPr lang="zh-CN" altLang="en-US" sz="1200">
                <a:latin typeface="+mn-ea"/>
                <a:cs typeface="+mn-ea"/>
              </a:rPr>
              <a:t>树</a:t>
            </a:r>
            <a:r>
              <a:rPr lang="zh-CN" altLang="en-US"/>
              <a:t>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0565" y="3856990"/>
            <a:ext cx="5953125" cy="2228215"/>
          </a:xfrm>
          <a:prstGeom prst="rect">
            <a:avLst/>
          </a:prstGeom>
        </p:spPr>
      </p:pic>
      <p:sp>
        <p:nvSpPr>
          <p:cNvPr id="16" name="TextBox 29"/>
          <p:cNvSpPr txBox="1"/>
          <p:nvPr/>
        </p:nvSpPr>
        <p:spPr>
          <a:xfrm>
            <a:off x="8176895" y="3856990"/>
            <a:ext cx="3606800" cy="2146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入口与初始化：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StartNewTree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加写锁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root_page_id_latch_.WLock()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：对根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ID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加写锁，因为插入可能导致根节点改变。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空树处理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if (IsEmpty()) { StartNewTree(key, value); }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：如果树为空，调用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StartNewTree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创建一个新的叶子节点作为根节点。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8535" y="1972310"/>
            <a:ext cx="5528310" cy="3482975"/>
          </a:xfrm>
          <a:prstGeom prst="rect">
            <a:avLst/>
          </a:prstGeom>
        </p:spPr>
      </p:pic>
      <p:sp>
        <p:nvSpPr>
          <p:cNvPr id="16" name="TextBox 29"/>
          <p:cNvSpPr txBox="1"/>
          <p:nvPr/>
        </p:nvSpPr>
        <p:spPr>
          <a:xfrm>
            <a:off x="8041005" y="1677035"/>
            <a:ext cx="3796665" cy="4073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叶子节点插入与分裂：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InsertIntoLeaf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定位叶子：使用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FindLeaf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查找目标叶子页。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页面内插入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leaf_node-&gt;Insert(key, value, comparator_);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：尝试在叶子节点中插入数据。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未溢出：如果叶子未满，则释放所有锁和资源，返回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true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溢出处理（分裂）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调用模板函数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Split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，分配一个新的页面，并将当前叶子节点约一半的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数据移动到新页面。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更新叶子节点的链表指针。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获取新页面的第一个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上升键（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Copy Up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逻辑）。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InsertIntoParent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（）：调用核心递归函数，将上升键和新页面指针插入到父节点。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640" y="2290445"/>
            <a:ext cx="6259830" cy="2670175"/>
          </a:xfrm>
          <a:prstGeom prst="rect">
            <a:avLst/>
          </a:prstGeom>
        </p:spPr>
      </p:pic>
      <p:sp>
        <p:nvSpPr>
          <p:cNvPr id="16" name="TextBox 29"/>
          <p:cNvSpPr txBox="1"/>
          <p:nvPr/>
        </p:nvSpPr>
        <p:spPr>
          <a:xfrm>
            <a:off x="8290560" y="1327785"/>
            <a:ext cx="3699510" cy="4834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递归插入父节点：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InsertIntoParent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这个函数是保证树平衡的核心，它处理级联分裂。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：分裂根节点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增加树高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创建一个新的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Internal Page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作为根。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新的根节点通过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PopulateNewRoot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拥有分裂前的旧节点和分裂出的新节点。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树高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+1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：父节点未满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直接在父节点插入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释放所有锁并结束递归。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：父节点已满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级联分裂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将父节点的数据复制到临时内存，在临时节点中插入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对临时节点调用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Split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，得到一个新的上升键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new_key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InsertIntoParent()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：继续向上层插入，直到遇到未满的节点或到达新的根节点。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 descr="insert测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1687195"/>
            <a:ext cx="7512685" cy="4427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TextBox 29"/>
          <p:cNvSpPr txBox="1"/>
          <p:nvPr/>
        </p:nvSpPr>
        <p:spPr>
          <a:xfrm>
            <a:off x="6251575" y="1608455"/>
            <a:ext cx="5706110" cy="4371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算法原理：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如果叶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结点中不存在对应的键，则删除失败。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删除叶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结点中的键，如果结点键的数量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⼤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Math.ceil(m-1)/2 – 1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，删除操作结束，否则继续执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⾏</a:t>
            </a:r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步。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如果兄弟结点有富余的键，向兄弟结点借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个键，替换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结点中的键，删除结束。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如果兄弟结点没有富余的键，将当前结点和兄弟结点合并，同时删除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结点中的键。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如果索引结点键的数量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⼤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Math.ceil(m-1)/2 – 1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，删除操作结束，否则继续执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⾏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步。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如果兄弟结点有富余的键，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结点键下移，兄弟结点键上移，删除结束。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如果兄弟结点没有富余的键，将当前结点和兄弟结点以及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结点合并成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个新结点。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785" y="1416685"/>
            <a:ext cx="4060190" cy="510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5355" y="1413510"/>
            <a:ext cx="5357495" cy="3256280"/>
          </a:xfrm>
          <a:prstGeom prst="rect">
            <a:avLst/>
          </a:prstGeom>
        </p:spPr>
      </p:pic>
      <p:sp>
        <p:nvSpPr>
          <p:cNvPr id="62" name="TextBox 29"/>
          <p:cNvSpPr txBox="1"/>
          <p:nvPr/>
        </p:nvSpPr>
        <p:spPr>
          <a:xfrm>
            <a:off x="3144520" y="4621530"/>
            <a:ext cx="6849110" cy="219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入口与删除：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Remove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加写锁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root_page_id_latch_.WLock()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定位删除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FindLeaf();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页面内删除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leaf_node-&gt;RemoveAndDeleteRecord(key, comparator_);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：尝试删除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不存在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如果删除后大小未变，则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不存在，释放锁并返回。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下溢检查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CoalesceOrRedistribute()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：调用核心平衡函数。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7252335" y="1560195"/>
            <a:ext cx="486283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平衡核心：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CoalesceOrRedistribute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这个模板函数负责判断是借位还是合并，并执行递归。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根节点调整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if (node-&gt;IsRootPage())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：如果当前是根节点，调用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AdjustRoot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检查是否需要降低树高。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if (node-&gt;GetSize() &gt;= node-&gt;GetMinSize())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：如果未下溢，释放锁并返回。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查找兄弟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尝试获取相邻的兄弟节点（左兄弟优先）。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：富裕兄弟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: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如果兄弟节点还有多余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Redistribute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，从兄弟节点借一个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到当前节点，然后更新父节点中的分隔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：贫穷兄弟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: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Coalesce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，将当前节点数据全部移动到兄弟节点，并删除当前节点。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Coalesce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内部会递归调用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CoalesceOrRedistribute()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处理父节点中删除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后可能导致的下溢。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20" y="2181225"/>
            <a:ext cx="5167630" cy="30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275" y="2248535"/>
            <a:ext cx="5485130" cy="2360295"/>
          </a:xfrm>
          <a:prstGeom prst="rect">
            <a:avLst/>
          </a:prstGeom>
        </p:spPr>
      </p:pic>
      <p:sp>
        <p:nvSpPr>
          <p:cNvPr id="62" name="TextBox 29"/>
          <p:cNvSpPr txBox="1"/>
          <p:nvPr/>
        </p:nvSpPr>
        <p:spPr>
          <a:xfrm>
            <a:off x="7749540" y="1668145"/>
            <a:ext cx="3896360" cy="399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辅助平衡函数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Coalesce (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合并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):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node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的所有数据移动到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neighbor_node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在父节点中移除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node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对应的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和指针。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递归检查父节点是否下溢。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Redistribute (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借位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):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负责将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Key/Value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从兄弟节点移动到当前节点。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必须更新父节点中的分隔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：因为借位改变了子节点间的边界。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AdjustRoot (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根调整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):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如果非叶子根节点只剩一个子节点，则将树高降低一层，新根指向唯一的子节点。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如果叶子根节点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数量为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0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，则树变空。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 descr="delete测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3670" y="1583690"/>
            <a:ext cx="7920355" cy="4667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1925" y="2009140"/>
            <a:ext cx="4248150" cy="2538730"/>
            <a:chOff x="6457" y="2072"/>
            <a:chExt cx="6690" cy="3998"/>
          </a:xfrm>
        </p:grpSpPr>
        <p:sp>
          <p:nvSpPr>
            <p:cNvPr id="6" name="矩形 5"/>
            <p:cNvSpPr/>
            <p:nvPr/>
          </p:nvSpPr>
          <p:spPr>
            <a:xfrm>
              <a:off x="6463" y="4697"/>
              <a:ext cx="6679" cy="12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索引</a:t>
              </a:r>
              <a:r>
                <a:rPr kumimoji="0" lang="zh-CN" altLang="en-US" sz="4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迭代器</a:t>
              </a:r>
              <a:endPara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457" y="6070"/>
              <a:ext cx="669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8558" y="2072"/>
              <a:ext cx="2489" cy="2489"/>
              <a:chOff x="5434135" y="1315452"/>
              <a:chExt cx="1580321" cy="1580321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5434135" y="1315452"/>
                <a:ext cx="1580321" cy="1580321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" name="Freeform 18"/>
              <p:cNvSpPr>
                <a:spLocks noChangeAspect="1" noEditPoints="1"/>
              </p:cNvSpPr>
              <p:nvPr/>
            </p:nvSpPr>
            <p:spPr bwMode="auto">
              <a:xfrm>
                <a:off x="5781302" y="1521292"/>
                <a:ext cx="900000" cy="1079474"/>
              </a:xfrm>
              <a:custGeom>
                <a:avLst/>
                <a:gdLst>
                  <a:gd name="T0" fmla="*/ 456 w 456"/>
                  <a:gd name="T1" fmla="*/ 528 h 548"/>
                  <a:gd name="T2" fmla="*/ 436 w 456"/>
                  <a:gd name="T3" fmla="*/ 548 h 548"/>
                  <a:gd name="T4" fmla="*/ 84 w 456"/>
                  <a:gd name="T5" fmla="*/ 548 h 548"/>
                  <a:gd name="T6" fmla="*/ 0 w 456"/>
                  <a:gd name="T7" fmla="*/ 464 h 548"/>
                  <a:gd name="T8" fmla="*/ 84 w 456"/>
                  <a:gd name="T9" fmla="*/ 380 h 548"/>
                  <a:gd name="T10" fmla="*/ 436 w 456"/>
                  <a:gd name="T11" fmla="*/ 380 h 548"/>
                  <a:gd name="T12" fmla="*/ 456 w 456"/>
                  <a:gd name="T13" fmla="*/ 399 h 548"/>
                  <a:gd name="T14" fmla="*/ 436 w 456"/>
                  <a:gd name="T15" fmla="*/ 419 h 548"/>
                  <a:gd name="T16" fmla="*/ 90 w 456"/>
                  <a:gd name="T17" fmla="*/ 419 h 548"/>
                  <a:gd name="T18" fmla="*/ 45 w 456"/>
                  <a:gd name="T19" fmla="*/ 464 h 548"/>
                  <a:gd name="T20" fmla="*/ 90 w 456"/>
                  <a:gd name="T21" fmla="*/ 509 h 548"/>
                  <a:gd name="T22" fmla="*/ 436 w 456"/>
                  <a:gd name="T23" fmla="*/ 509 h 548"/>
                  <a:gd name="T24" fmla="*/ 456 w 456"/>
                  <a:gd name="T25" fmla="*/ 528 h 548"/>
                  <a:gd name="T26" fmla="*/ 235 w 456"/>
                  <a:gd name="T27" fmla="*/ 78 h 548"/>
                  <a:gd name="T28" fmla="*/ 309 w 456"/>
                  <a:gd name="T29" fmla="*/ 6 h 548"/>
                  <a:gd name="T30" fmla="*/ 309 w 456"/>
                  <a:gd name="T31" fmla="*/ 0 h 548"/>
                  <a:gd name="T32" fmla="*/ 303 w 456"/>
                  <a:gd name="T33" fmla="*/ 0 h 548"/>
                  <a:gd name="T34" fmla="*/ 228 w 456"/>
                  <a:gd name="T35" fmla="*/ 72 h 548"/>
                  <a:gd name="T36" fmla="*/ 229 w 456"/>
                  <a:gd name="T37" fmla="*/ 77 h 548"/>
                  <a:gd name="T38" fmla="*/ 235 w 456"/>
                  <a:gd name="T39" fmla="*/ 78 h 548"/>
                  <a:gd name="T40" fmla="*/ 372 w 456"/>
                  <a:gd name="T41" fmla="*/ 137 h 548"/>
                  <a:gd name="T42" fmla="*/ 295 w 456"/>
                  <a:gd name="T43" fmla="*/ 85 h 548"/>
                  <a:gd name="T44" fmla="*/ 232 w 456"/>
                  <a:gd name="T45" fmla="*/ 98 h 548"/>
                  <a:gd name="T46" fmla="*/ 170 w 456"/>
                  <a:gd name="T47" fmla="*/ 85 h 548"/>
                  <a:gd name="T48" fmla="*/ 93 w 456"/>
                  <a:gd name="T49" fmla="*/ 137 h 548"/>
                  <a:gd name="T50" fmla="*/ 175 w 456"/>
                  <a:gd name="T51" fmla="*/ 341 h 548"/>
                  <a:gd name="T52" fmla="*/ 232 w 456"/>
                  <a:gd name="T53" fmla="*/ 328 h 548"/>
                  <a:gd name="T54" fmla="*/ 290 w 456"/>
                  <a:gd name="T55" fmla="*/ 341 h 548"/>
                  <a:gd name="T56" fmla="*/ 372 w 456"/>
                  <a:gd name="T57" fmla="*/ 137 h 548"/>
                  <a:gd name="T58" fmla="*/ 172 w 456"/>
                  <a:gd name="T59" fmla="*/ 126 h 548"/>
                  <a:gd name="T60" fmla="*/ 168 w 456"/>
                  <a:gd name="T61" fmla="*/ 126 h 548"/>
                  <a:gd name="T62" fmla="*/ 128 w 456"/>
                  <a:gd name="T63" fmla="*/ 161 h 548"/>
                  <a:gd name="T64" fmla="*/ 119 w 456"/>
                  <a:gd name="T65" fmla="*/ 169 h 548"/>
                  <a:gd name="T66" fmla="*/ 118 w 456"/>
                  <a:gd name="T67" fmla="*/ 169 h 548"/>
                  <a:gd name="T68" fmla="*/ 116 w 456"/>
                  <a:gd name="T69" fmla="*/ 168 h 548"/>
                  <a:gd name="T70" fmla="*/ 109 w 456"/>
                  <a:gd name="T71" fmla="*/ 157 h 548"/>
                  <a:gd name="T72" fmla="*/ 168 w 456"/>
                  <a:gd name="T73" fmla="*/ 106 h 548"/>
                  <a:gd name="T74" fmla="*/ 173 w 456"/>
                  <a:gd name="T75" fmla="*/ 106 h 548"/>
                  <a:gd name="T76" fmla="*/ 181 w 456"/>
                  <a:gd name="T77" fmla="*/ 117 h 548"/>
                  <a:gd name="T78" fmla="*/ 172 w 456"/>
                  <a:gd name="T79" fmla="*/ 126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56" h="548">
                    <a:moveTo>
                      <a:pt x="456" y="528"/>
                    </a:moveTo>
                    <a:cubicBezTo>
                      <a:pt x="456" y="539"/>
                      <a:pt x="447" y="548"/>
                      <a:pt x="436" y="548"/>
                    </a:cubicBezTo>
                    <a:cubicBezTo>
                      <a:pt x="84" y="548"/>
                      <a:pt x="84" y="548"/>
                      <a:pt x="84" y="548"/>
                    </a:cubicBezTo>
                    <a:cubicBezTo>
                      <a:pt x="38" y="548"/>
                      <a:pt x="0" y="510"/>
                      <a:pt x="0" y="464"/>
                    </a:cubicBezTo>
                    <a:cubicBezTo>
                      <a:pt x="0" y="417"/>
                      <a:pt x="38" y="380"/>
                      <a:pt x="84" y="380"/>
                    </a:cubicBezTo>
                    <a:cubicBezTo>
                      <a:pt x="436" y="380"/>
                      <a:pt x="436" y="380"/>
                      <a:pt x="436" y="380"/>
                    </a:cubicBezTo>
                    <a:cubicBezTo>
                      <a:pt x="447" y="380"/>
                      <a:pt x="456" y="389"/>
                      <a:pt x="456" y="399"/>
                    </a:cubicBezTo>
                    <a:cubicBezTo>
                      <a:pt x="456" y="410"/>
                      <a:pt x="447" y="419"/>
                      <a:pt x="436" y="419"/>
                    </a:cubicBezTo>
                    <a:cubicBezTo>
                      <a:pt x="90" y="419"/>
                      <a:pt x="90" y="419"/>
                      <a:pt x="90" y="419"/>
                    </a:cubicBezTo>
                    <a:cubicBezTo>
                      <a:pt x="65" y="419"/>
                      <a:pt x="45" y="439"/>
                      <a:pt x="45" y="464"/>
                    </a:cubicBezTo>
                    <a:cubicBezTo>
                      <a:pt x="45" y="488"/>
                      <a:pt x="65" y="509"/>
                      <a:pt x="90" y="509"/>
                    </a:cubicBezTo>
                    <a:cubicBezTo>
                      <a:pt x="436" y="509"/>
                      <a:pt x="436" y="509"/>
                      <a:pt x="436" y="509"/>
                    </a:cubicBezTo>
                    <a:cubicBezTo>
                      <a:pt x="447" y="509"/>
                      <a:pt x="456" y="518"/>
                      <a:pt x="456" y="528"/>
                    </a:cubicBezTo>
                    <a:close/>
                    <a:moveTo>
                      <a:pt x="235" y="78"/>
                    </a:moveTo>
                    <a:cubicBezTo>
                      <a:pt x="276" y="78"/>
                      <a:pt x="309" y="45"/>
                      <a:pt x="309" y="6"/>
                    </a:cubicBezTo>
                    <a:cubicBezTo>
                      <a:pt x="309" y="4"/>
                      <a:pt x="309" y="2"/>
                      <a:pt x="309" y="0"/>
                    </a:cubicBezTo>
                    <a:cubicBezTo>
                      <a:pt x="307" y="0"/>
                      <a:pt x="305" y="0"/>
                      <a:pt x="303" y="0"/>
                    </a:cubicBezTo>
                    <a:cubicBezTo>
                      <a:pt x="262" y="0"/>
                      <a:pt x="228" y="32"/>
                      <a:pt x="228" y="72"/>
                    </a:cubicBezTo>
                    <a:cubicBezTo>
                      <a:pt x="228" y="74"/>
                      <a:pt x="228" y="76"/>
                      <a:pt x="229" y="77"/>
                    </a:cubicBezTo>
                    <a:cubicBezTo>
                      <a:pt x="231" y="78"/>
                      <a:pt x="233" y="78"/>
                      <a:pt x="235" y="78"/>
                    </a:cubicBezTo>
                    <a:close/>
                    <a:moveTo>
                      <a:pt x="372" y="137"/>
                    </a:moveTo>
                    <a:cubicBezTo>
                      <a:pt x="357" y="102"/>
                      <a:pt x="321" y="85"/>
                      <a:pt x="295" y="85"/>
                    </a:cubicBezTo>
                    <a:cubicBezTo>
                      <a:pt x="263" y="85"/>
                      <a:pt x="257" y="98"/>
                      <a:pt x="232" y="98"/>
                    </a:cubicBezTo>
                    <a:cubicBezTo>
                      <a:pt x="208" y="98"/>
                      <a:pt x="202" y="85"/>
                      <a:pt x="170" y="85"/>
                    </a:cubicBezTo>
                    <a:cubicBezTo>
                      <a:pt x="143" y="85"/>
                      <a:pt x="108" y="102"/>
                      <a:pt x="93" y="137"/>
                    </a:cubicBezTo>
                    <a:cubicBezTo>
                      <a:pt x="62" y="207"/>
                      <a:pt x="114" y="341"/>
                      <a:pt x="175" y="341"/>
                    </a:cubicBezTo>
                    <a:cubicBezTo>
                      <a:pt x="199" y="341"/>
                      <a:pt x="210" y="328"/>
                      <a:pt x="232" y="328"/>
                    </a:cubicBezTo>
                    <a:cubicBezTo>
                      <a:pt x="255" y="328"/>
                      <a:pt x="265" y="341"/>
                      <a:pt x="290" y="341"/>
                    </a:cubicBezTo>
                    <a:cubicBezTo>
                      <a:pt x="351" y="341"/>
                      <a:pt x="403" y="207"/>
                      <a:pt x="372" y="137"/>
                    </a:cubicBezTo>
                    <a:close/>
                    <a:moveTo>
                      <a:pt x="172" y="126"/>
                    </a:moveTo>
                    <a:cubicBezTo>
                      <a:pt x="170" y="126"/>
                      <a:pt x="169" y="126"/>
                      <a:pt x="168" y="126"/>
                    </a:cubicBezTo>
                    <a:cubicBezTo>
                      <a:pt x="154" y="126"/>
                      <a:pt x="132" y="138"/>
                      <a:pt x="128" y="161"/>
                    </a:cubicBezTo>
                    <a:cubicBezTo>
                      <a:pt x="127" y="165"/>
                      <a:pt x="123" y="169"/>
                      <a:pt x="119" y="169"/>
                    </a:cubicBezTo>
                    <a:cubicBezTo>
                      <a:pt x="118" y="169"/>
                      <a:pt x="118" y="169"/>
                      <a:pt x="118" y="169"/>
                    </a:cubicBezTo>
                    <a:cubicBezTo>
                      <a:pt x="118" y="169"/>
                      <a:pt x="117" y="169"/>
                      <a:pt x="116" y="168"/>
                    </a:cubicBezTo>
                    <a:cubicBezTo>
                      <a:pt x="111" y="167"/>
                      <a:pt x="108" y="162"/>
                      <a:pt x="109" y="157"/>
                    </a:cubicBezTo>
                    <a:cubicBezTo>
                      <a:pt x="115" y="125"/>
                      <a:pt x="144" y="106"/>
                      <a:pt x="168" y="106"/>
                    </a:cubicBezTo>
                    <a:cubicBezTo>
                      <a:pt x="170" y="106"/>
                      <a:pt x="171" y="106"/>
                      <a:pt x="173" y="106"/>
                    </a:cubicBezTo>
                    <a:cubicBezTo>
                      <a:pt x="178" y="107"/>
                      <a:pt x="182" y="112"/>
                      <a:pt x="181" y="117"/>
                    </a:cubicBezTo>
                    <a:cubicBezTo>
                      <a:pt x="181" y="122"/>
                      <a:pt x="177" y="126"/>
                      <a:pt x="172" y="1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迭代器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7245" y="2153920"/>
            <a:ext cx="5122545" cy="2740660"/>
          </a:xfrm>
          <a:prstGeom prst="rect">
            <a:avLst/>
          </a:prstGeom>
        </p:spPr>
      </p:pic>
      <p:sp>
        <p:nvSpPr>
          <p:cNvPr id="8" name="TextBox 29"/>
          <p:cNvSpPr txBox="1"/>
          <p:nvPr/>
        </p:nvSpPr>
        <p:spPr>
          <a:xfrm>
            <a:off x="7613015" y="1572895"/>
            <a:ext cx="389636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前置递增算符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(operator++) ——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核心逻辑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这是迭代器最复杂的函数，实现了跨页遍历。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页内移动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index_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还没到当前页尾，直接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index_++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跨页移动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(Cross-Page Traversal):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如果到了页尾，且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next_page_id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存在：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FetchPage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从磁盘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内存拿到下一个叶子页。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并发安全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(Hand-over-hand locking):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先获取新页面的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读锁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(RLatch)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。然后才释放旧页面的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读锁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(RUnlatch)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这样保证了两个页面之间的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连接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在切换瞬间是安全的，防止其他线程在此时打断链表或删除节点。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727963" y="2156116"/>
            <a:ext cx="4736075" cy="1850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0" i="0" u="none" strike="noStrike" kern="1200" cap="none" spc="0" normalizeH="0" baseline="0" noProof="0">
                <a:ln>
                  <a:noFill/>
                </a:ln>
                <a:solidFill>
                  <a:srgbClr val="2A3D52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THANKS!</a:t>
            </a:r>
            <a:endParaRPr kumimoji="0" lang="zh-CN" altLang="en-US" sz="8800" b="0" i="0" u="none" strike="noStrike" kern="1200" cap="none" spc="0" normalizeH="0" baseline="0" noProof="0">
              <a:ln>
                <a:noFill/>
              </a:ln>
              <a:solidFill>
                <a:srgbClr val="2A3D52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064134" y="4226853"/>
            <a:ext cx="406400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A3D5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A3D5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垂听！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2A3D5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4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5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6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7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8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9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0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1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2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3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4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5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6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77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78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79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0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81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2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3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4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5.xml><?xml version="1.0" encoding="utf-8"?>
<p:tagLst xmlns:p="http://schemas.openxmlformats.org/presentationml/2006/main">
  <p:tag name="MH" val="20151008135141"/>
  <p:tag name="MH_LIBRARY" val="GRAPHIC"/>
  <p:tag name="MH_ORDER" val="4"/>
  <p:tag name="MH_TYPE" val="SubTitle"/>
  <p:tag name="KSO_WM_DIAGRAM_VIRTUALLY_FRAME" val="{&quot;height&quot;:338.1829921259843,&quot;left&quot;:153.9,&quot;top&quot;:161.03228346456692,&quot;width&quot;:777.6}"/>
</p:tagLst>
</file>

<file path=ppt/tags/tag86.xml><?xml version="1.0" encoding="utf-8"?>
<p:tagLst xmlns:p="http://schemas.openxmlformats.org/presentationml/2006/main">
  <p:tag name="MH" val="20151008135141"/>
  <p:tag name="MH_LIBRARY" val="GRAPHIC"/>
  <p:tag name="MH_ORDER" val="4"/>
  <p:tag name="MH_TYPE" val="SubTitle"/>
  <p:tag name="KSO_WM_DIAGRAM_VIRTUALLY_FRAME" val="{&quot;height&quot;:338.1829921259843,&quot;left&quot;:153.9,&quot;top&quot;:161.03228346456692,&quot;width&quot;:777.6}"/>
</p:tagLst>
</file>

<file path=ppt/tags/tag87.xml><?xml version="1.0" encoding="utf-8"?>
<p:tagLst xmlns:p="http://schemas.openxmlformats.org/presentationml/2006/main">
  <p:tag name="MH" val="20151008135141"/>
  <p:tag name="MH_LIBRARY" val="GRAPHIC"/>
  <p:tag name="MH_ORDER" val="4"/>
  <p:tag name="MH_TYPE" val="SubTitle"/>
  <p:tag name="KSO_WM_DIAGRAM_VIRTUALLY_FRAME" val="{&quot;height&quot;:338.1829921259843,&quot;left&quot;:153.9,&quot;top&quot;:161.03228346456692,&quot;width&quot;:777.6}"/>
</p:tagLst>
</file>

<file path=ppt/tags/tag88.xml><?xml version="1.0" encoding="utf-8"?>
<p:tagLst xmlns:p="http://schemas.openxmlformats.org/presentationml/2006/main">
  <p:tag name="MH" val="20151008135141"/>
  <p:tag name="MH_LIBRARY" val="GRAPHIC"/>
  <p:tag name="MH_ORDER" val="5"/>
  <p:tag name="MH_TYPE" val="Other"/>
  <p:tag name="KSO_WM_DIAGRAM_VIRTUALLY_FRAME" val="{&quot;height&quot;:338.1829921259843,&quot;left&quot;:153.9,&quot;top&quot;:161.03228346456692,&quot;width&quot;:777.6}"/>
</p:tagLst>
</file>

<file path=ppt/tags/tag89.xml><?xml version="1.0" encoding="utf-8"?>
<p:tagLst xmlns:p="http://schemas.openxmlformats.org/presentationml/2006/main">
  <p:tag name="MH" val="20151008135141"/>
  <p:tag name="MH_LIBRARY" val="GRAPHIC"/>
  <p:tag name="MH_ORDER" val="5"/>
  <p:tag name="MH_TYPE" val="Other"/>
  <p:tag name="KSO_WM_DIAGRAM_VIRTUALLY_FRAME" val="{&quot;height&quot;:338.1829921259843,&quot;left&quot;:153.9,&quot;top&quot;:161.03228346456692,&quot;width&quot;:777.6}"/>
</p:tagLst>
</file>

<file path=ppt/tags/tag90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1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2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3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4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5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6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7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8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9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0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1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2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3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4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5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6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7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8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9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10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1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2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3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4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5.xml><?xml version="1.0" encoding="utf-8"?>
<p:tagLst xmlns:p="http://schemas.openxmlformats.org/presentationml/2006/main">
  <p:tag name="KSO_WM_DIAGRAM_VIRTUALLY_FRAME" val="{&quot;height&quot;:339.3761417322836,&quot;left&quot;:158.31220472440947,&quot;top&quot;:132.056062992126,&quot;width&quot;:779.7378740157479}"/>
</p:tagLst>
</file>

<file path=ppt/tags/tag116.xml><?xml version="1.0" encoding="utf-8"?>
<p:tagLst xmlns:p="http://schemas.openxmlformats.org/presentationml/2006/main">
  <p:tag name="KSO_WM_DIAGRAM_VIRTUALLY_FRAME" val="{&quot;height&quot;:339.3761417322836,&quot;left&quot;:158.31220472440947,&quot;top&quot;:132.056062992126,&quot;width&quot;:779.7378740157479}"/>
</p:tagLst>
</file>

<file path=ppt/tags/tag117.xml><?xml version="1.0" encoding="utf-8"?>
<p:tagLst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9529</Words>
  <Application>WPS 演示</Application>
  <PresentationFormat>宽屏</PresentationFormat>
  <Paragraphs>427</Paragraphs>
  <Slides>47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47</vt:i4>
      </vt:variant>
    </vt:vector>
  </HeadingPairs>
  <TitlesOfParts>
    <vt:vector size="72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Nexa Light</vt:lpstr>
      <vt:lpstr>Segoe Print</vt:lpstr>
      <vt:lpstr>方正大标宋简体</vt:lpstr>
      <vt:lpstr>方正兰亭细黑_GBK</vt:lpstr>
      <vt:lpstr>Lao UI</vt:lpstr>
      <vt:lpstr>Times New Roman</vt:lpstr>
      <vt:lpstr>黑体</vt:lpstr>
      <vt:lpstr>Arial Unicode MS</vt:lpstr>
      <vt:lpstr>等线</vt:lpstr>
      <vt:lpstr>Calibri</vt:lpstr>
      <vt:lpstr>Arial</vt:lpstr>
      <vt:lpstr>Impact</vt:lpstr>
      <vt:lpstr>Office 主题​​</vt:lpstr>
      <vt:lpstr>Office 主题</vt:lpstr>
      <vt:lpstr>自定义设计方案</vt:lpstr>
      <vt:lpstr>1_Office 主题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隐訾</cp:lastModifiedBy>
  <cp:revision>21</cp:revision>
  <dcterms:created xsi:type="dcterms:W3CDTF">2016-07-01T07:41:00Z</dcterms:created>
  <dcterms:modified xsi:type="dcterms:W3CDTF">2025-12-16T02:41:56Z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B64CA039A02D4960966B5CCC693DAEC3_13</vt:lpwstr>
  </property>
  <property fmtid="{D5CDD505-2E9C-101B-9397-08002B2CF9AE}" pid="3" name="KSOProductBuildVer">
    <vt:lpwstr>2052-12.1.0.24034</vt:lpwstr>
  </property>
</Properties>
</file>